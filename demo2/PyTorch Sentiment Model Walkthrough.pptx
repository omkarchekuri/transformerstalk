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C8C38C-B679-4025-B0C4-8CDE80672E85}">
  <a:tblStyle styleId="{13C8C38C-B679-4025-B0C4-8CDE80672E8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Lato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12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9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280398" y="2415480"/>
            <a:ext cx="963120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Training a Sentiment AI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509712" y="3748980"/>
            <a:ext cx="917257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Notebook Walkthrough of a PyTorch Neural Network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3565683" y="2144166"/>
            <a:ext cx="5060632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Objective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5619750" y="3649116"/>
            <a:ext cx="952500" cy="4762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286000" y="3982491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 build and train a model that can read raw text and output a continuous sentiment score from </a:t>
            </a:r>
            <a:r>
              <a:rPr b="1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-1.0 (Negative)</a:t>
            </a: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 </a:t>
            </a:r>
            <a:r>
              <a:rPr b="1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+1.0 (Positive)</a:t>
            </a: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0" name="Google Shape;100;p15"/>
          <p:cNvGraphicFramePr/>
          <p:nvPr/>
        </p:nvGraphicFramePr>
        <p:xfrm>
          <a:off x="571500" y="21574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{13C8C38C-B679-4025-B0C4-8CDE80672E85}</a:tableStyleId>
              </a:tblPr>
              <a:tblGrid>
                <a:gridCol w="7353600"/>
                <a:gridCol w="3695400"/>
              </a:tblGrid>
              <a:tr h="6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Text (Input)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Label (Target)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"I love this product, it's perfect..."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"This application is absolutely terrible..."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C262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-0.90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"It works fine most of the time..."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0.30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"I'm so disappointed with the constant bugs."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C262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-0.85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"Okay I guess, nothing special about it..."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64748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1" name="Google Shape;101;p15"/>
          <p:cNvSpPr/>
          <p:nvPr/>
        </p:nvSpPr>
        <p:spPr>
          <a:xfrm>
            <a:off x="571500" y="2800350"/>
            <a:ext cx="73535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7925097" y="2800350"/>
            <a:ext cx="36954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571500" y="3427065"/>
            <a:ext cx="73535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7925097" y="3427065"/>
            <a:ext cx="36954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571500" y="4053780"/>
            <a:ext cx="73535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7925097" y="4053780"/>
            <a:ext cx="36954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571500" y="4680495"/>
            <a:ext cx="73535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7925097" y="4680495"/>
            <a:ext cx="36954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571500" y="5307210"/>
            <a:ext cx="73535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7925097" y="5307210"/>
            <a:ext cx="36954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Step 1: The Data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62275"/>
            <a:ext cx="5286375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962275"/>
            <a:ext cx="5286375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849391" y="335280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7C3AED"/>
                </a:solidFill>
                <a:latin typeface="Poppins"/>
                <a:ea typeface="Poppins"/>
                <a:cs typeface="Poppins"/>
                <a:sym typeface="Poppins"/>
              </a:rPr>
              <a:t>Input: Raw Text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962025" y="3943350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computer does not understand the *meaning* of the string "This is terrible."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612016" y="335280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7C3AED"/>
                </a:solidFill>
                <a:latin typeface="Poppins"/>
                <a:ea typeface="Poppins"/>
                <a:cs typeface="Poppins"/>
                <a:sym typeface="Poppins"/>
              </a:rPr>
              <a:t>Required: Numerical Vector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724650" y="3943350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neural network only accepts numbers. We must convert the text into a meaningful vector.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Core Challenge: Text vs. Numbers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1809750" y="2517874"/>
            <a:ext cx="8572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use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TF-IDF (Term Frequency-Inverse Document Frequency)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 convert text into a vector.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2238375" y="3062585"/>
            <a:ext cx="81438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Term Frequency (TF):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How often a word appears in the message. (e.g., "bad" appears 1 time).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2238375" y="3971032"/>
            <a:ext cx="81438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Inverse Document Frequency (IDF):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Increases the score for words that are rare across *all* messages.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2238375" y="4879478"/>
            <a:ext cx="81438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Result: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Important, descriptive words like "furious" get a high score, while common words like "the" or "is" get a score near zero.</a:t>
            </a:r>
            <a:endParaRPr/>
          </a:p>
        </p:txBody>
      </p:sp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081635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990082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898528"/>
            <a:ext cx="2857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Step 2: Feature Engineering (TF-IDF)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571500" y="1531739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Vectorization with Scikit-learn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571500" y="2198489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use `TfidfVectorizer` to learn the vocabulary and transform our text into a matrix.</a:t>
            </a:r>
            <a:endParaRPr/>
          </a:p>
        </p:txBody>
      </p:sp>
      <p:pic>
        <p:nvPicPr>
          <p:cNvPr descr="image.png" id="147" name="Google Shape;14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531739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571500" y="293489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TF-IDF: From Code to Vector</a:t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571500" y="1122164"/>
            <a:ext cx="11049000" cy="285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09750"/>
            <a:ext cx="11049000" cy="44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>
            <a:off x="3343275" y="2042219"/>
            <a:ext cx="57807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Feedforward Neural Network (FNN)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828675" y="2851844"/>
            <a:ext cx="105346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vector is fed into a stack of simple layers. The final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Tanh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activation squashes the output to our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-1.0 to +1.0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range.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Step 3: Model Architecture (PyTorch)</a:t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 txBox="1"/>
          <p:nvPr/>
        </p:nvSpPr>
        <p:spPr>
          <a:xfrm>
            <a:off x="571500" y="2000250"/>
            <a:ext cx="520768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Flexible Layers with `nn.ModuleList`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571500" y="3124200"/>
            <a:ext cx="4959697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model isn't hard-coded. By using a `ModuleList`, the network can be instantly rebuilt with any number of hidden layers based on a simple list of numbers.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571500" y="4339232"/>
            <a:ext cx="495969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e.g., `[128, 64]` creates the model on the previous slide, while `[256, 128, 64, 32]` would create a deeper 4-layer network.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6007447" y="2000250"/>
            <a:ext cx="589370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`SentimentNet` Code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Architecture: A Dynamic Network</a:t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00287"/>
            <a:ext cx="3429000" cy="34955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300287"/>
            <a:ext cx="3429000" cy="34955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300287"/>
            <a:ext cx="3429000" cy="349552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 txBox="1"/>
          <p:nvPr/>
        </p:nvSpPr>
        <p:spPr>
          <a:xfrm>
            <a:off x="1260871" y="3309937"/>
            <a:ext cx="205025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Compute Device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866775" y="3957637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check for a GPU (`"cuda"`) to accelerate training. If not found, it defaults to `"cpu"`. All data and the model are moved to this device.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5260895" y="3309937"/>
            <a:ext cx="167020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Loss Function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4676775" y="3957637"/>
            <a:ext cx="283845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Mean Squared Error (MSELoss)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This measures the average squared difference between the predicted score (e.g., 0.8) and the true label (e.g., 0.95).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9300924" y="3309937"/>
            <a:ext cx="121015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Optimizer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8486775" y="3957637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Adam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This is the algorithm that "listens" to the Loss and adjusts all the network's weights to minimize the error on the next pass (epoch).</a:t>
            </a:r>
            <a:endParaRPr/>
          </a:p>
        </p:txBody>
      </p:sp>
      <p:pic>
        <p:nvPicPr>
          <p:cNvPr descr="image.png" id="185" name="Google Shape;18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7400" y="261461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4550" y="2614612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7400" y="26146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Step 4: Training Setup</a:t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2"/>
          <p:cNvSpPr txBox="1"/>
          <p:nvPr/>
        </p:nvSpPr>
        <p:spPr>
          <a:xfrm>
            <a:off x="1333500" y="2447329"/>
            <a:ext cx="9525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For each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Epoch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(one full pass over the data), the model repeats these five steps:</a:t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1762125" y="2992040"/>
            <a:ext cx="9096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`optimizer.zero_grad()`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Reset all tracked changes from the last step.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1762125" y="3565326"/>
            <a:ext cx="9096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`output = model(X_train)`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Make a prediction (Forward Pass).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1762125" y="4138612"/>
            <a:ext cx="9096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`loss = criterion(output, y_train)`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Calculate how "wrong" the prediction was.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1762125" y="4711898"/>
            <a:ext cx="9096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`loss.backward()`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Calculate the gradient (direction) of the error for every weight.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1762125" y="5285184"/>
            <a:ext cx="9096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`optimizer.step()`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Update all weights in the network to reduce the error.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Training Loop (In 5 Steps)</a:t>
            </a:r>
            <a:endParaRPr/>
          </a:p>
        </p:txBody>
      </p:sp>
      <p:sp>
        <p:nvSpPr>
          <p:cNvPr id="202" name="Google Shape;202;p22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3"/>
          <p:cNvSpPr txBox="1"/>
          <p:nvPr/>
        </p:nvSpPr>
        <p:spPr>
          <a:xfrm>
            <a:off x="571500" y="2312789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Testing the trained model on new, unseen text.</a:t>
            </a:r>
            <a:endParaRPr/>
          </a:p>
        </p:txBody>
      </p:sp>
      <p:graphicFrame>
        <p:nvGraphicFramePr>
          <p:cNvPr id="209" name="Google Shape;209;p23"/>
          <p:cNvGraphicFramePr/>
          <p:nvPr/>
        </p:nvGraphicFramePr>
        <p:xfrm>
          <a:off x="571500" y="28384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{13C8C38C-B679-4025-B0C4-8CDE80672E85}</a:tableStyleId>
              </a:tblPr>
              <a:tblGrid>
                <a:gridCol w="6153450"/>
                <a:gridCol w="3260075"/>
                <a:gridCol w="1635475"/>
              </a:tblGrid>
              <a:tr h="63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New Text (Input)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Predicted Score (Output)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Sentiment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3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"The agent was fantastic and solved my issue instantly! I'm delighted."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Positive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"This is broken and infuriating. My account is locked."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C262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-0.88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C262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Negative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"I have no preference about the color of the application."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64748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64748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Neutral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"The service was bad and my issue wasn't fixed."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C262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-0.79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C262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Negative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0" name="Google Shape;210;p23"/>
          <p:cNvSpPr/>
          <p:nvPr/>
        </p:nvSpPr>
        <p:spPr>
          <a:xfrm>
            <a:off x="571500" y="3481387"/>
            <a:ext cx="61534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6724947" y="3481387"/>
            <a:ext cx="32600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9985027" y="3481387"/>
            <a:ext cx="16354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571500" y="4108102"/>
            <a:ext cx="61534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6724947" y="4108102"/>
            <a:ext cx="32600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9985027" y="4108102"/>
            <a:ext cx="16354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571500" y="4734817"/>
            <a:ext cx="61534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6724947" y="4734817"/>
            <a:ext cx="32600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9985027" y="4734817"/>
            <a:ext cx="16354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571500" y="5361533"/>
            <a:ext cx="61534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6724947" y="5361533"/>
            <a:ext cx="32600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9985027" y="5361533"/>
            <a:ext cx="16354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Step 5: Prediction Results</a:t>
            </a:r>
            <a:endParaRPr/>
          </a:p>
        </p:txBody>
      </p:sp>
      <p:sp>
        <p:nvSpPr>
          <p:cNvPr id="223" name="Google Shape;223;p23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4"/>
          <p:cNvSpPr txBox="1"/>
          <p:nvPr/>
        </p:nvSpPr>
        <p:spPr>
          <a:xfrm>
            <a:off x="295275" y="276225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8887" y="3738413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28887" y="373841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5"/>
          <p:cNvSpPr txBox="1"/>
          <p:nvPr/>
        </p:nvSpPr>
        <p:spPr>
          <a:xfrm>
            <a:off x="3624262" y="3731865"/>
            <a:ext cx="63246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https://www.mdpi.com/processes/processes-10-00350/article_deploy/html/images/processes-10-00350-g002.png</a:t>
            </a:r>
            <a:endParaRPr/>
          </a:p>
        </p:txBody>
      </p:sp>
      <p:sp>
        <p:nvSpPr>
          <p:cNvPr id="238" name="Google Shape;238;p25"/>
          <p:cNvSpPr txBox="1"/>
          <p:nvPr/>
        </p:nvSpPr>
        <p:spPr>
          <a:xfrm>
            <a:off x="3624262" y="3977580"/>
            <a:ext cx="63246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www.mdpi.com</a:t>
            </a:r>
            <a:endParaRPr/>
          </a:p>
        </p:txBody>
      </p:sp>
      <p:sp>
        <p:nvSpPr>
          <p:cNvPr id="239" name="Google Shape;239;p25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40" name="Google Shape;240;p25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