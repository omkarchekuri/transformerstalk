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22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5" Type="http://schemas.openxmlformats.org/officeDocument/2006/relationships/image" Target="../media/image33.png"/><Relationship Id="rId6" Type="http://schemas.openxmlformats.org/officeDocument/2006/relationships/image" Target="../media/image27.png"/><Relationship Id="rId7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Relationship Id="rId11" Type="http://schemas.openxmlformats.org/officeDocument/2006/relationships/image" Target="../media/image32.png"/><Relationship Id="rId10" Type="http://schemas.openxmlformats.org/officeDocument/2006/relationships/image" Target="../media/image31.png"/><Relationship Id="rId9" Type="http://schemas.openxmlformats.org/officeDocument/2006/relationships/image" Target="../media/image29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630691" y="2415480"/>
            <a:ext cx="493061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Sentinel AI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748087" y="3748980"/>
            <a:ext cx="46958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Live Chat Sentiment Analysis Dashboard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930354" y="2144166"/>
            <a:ext cx="1033129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Problem: Data Overload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619750" y="3649116"/>
            <a:ext cx="952500" cy="476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3982491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have thousands of customer conversations. How do we find the critical moments of frustration or success *in real-time*?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4577"/>
            <a:ext cx="3429000" cy="2946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574577"/>
            <a:ext cx="3429000" cy="2946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574577"/>
            <a:ext cx="3429000" cy="294694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1490900" y="3584227"/>
            <a:ext cx="159019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Live Analysis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66775" y="4231927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Analyze sentiment for every message as it happens, providing instant feedback to agents and managers.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230891" y="3584227"/>
            <a:ext cx="173021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Train &amp; Adapt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676775" y="4231927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Dynamically re-train the AI model on new data directly within the app to improve its accuracy over time.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020889" y="3584227"/>
            <a:ext cx="177022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Batch Insights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486775" y="4231927"/>
            <a:ext cx="28384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Upload historical conversation logs (CSVs) to analyze past performance and identify large-scale trends.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88890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88890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Solution: An Integrated AI Dashboard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050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238541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Real-Time Scoring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3052167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core of the app is the live chat log. It provides immediate, color-coded sentiment feedback for every message from both the customer and the agent.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733425" y="426815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57250" y="4267200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Customer messages align left.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33425" y="4746188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57250" y="4745235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Agent messages align right (on supported versions).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33425" y="522422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57250" y="5223271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Sentiment is instantly scored and displayed.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14525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Feature: The Live Chat Interface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57475"/>
            <a:ext cx="5286375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57475"/>
            <a:ext cx="5286375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849391" y="30480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Negative Sentiment (▼ -1.0)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62025" y="3638550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red, downward-pointing arrow provides a clear visual warning. This instantly flags customer frustration, allowing a manager to intervene or an agent to adjust their strategy.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612016" y="30480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Positive Sentiment (▲ +1.0)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724650" y="3638550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green, upward-pointing arrow highlights success. This helps confirm a resolution, reinforces positive agent behavior, and identifies satisfied customers.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Feature: Instant Sentiment Feedback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571500" y="3195637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-0.31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71500" y="4624387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Overall Conversation Sentiment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334125" y="249971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At-a-Glance KPIs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334125" y="3166467"/>
            <a:ext cx="52863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dashboard provides a high-level summary of the entire conversation's health. By tracking the average sentiment for all parties, managers can quickly assess the call's tone.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334125" y="4716660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These metrics update live with every new message, providing a real-time pulse on the conversation.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Feature: The Sentiment Dashboard (Metrics)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050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571500" y="2376785"/>
            <a:ext cx="55506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Visualizing the Conversation Flow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571500" y="3500735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provide two critical trend charts: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781050" y="4046398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952500" y="4045446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Per-Message Trend: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Spots the *exact moment* a conversation turns positive or negative.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781050" y="4859595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952500" y="4858642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Cumulative Trend: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Shows the *overall direction* of the chat. Is it recovering or getting worse?</a:t>
            </a:r>
            <a:endParaRPr/>
          </a:p>
        </p:txBody>
      </p:sp>
      <p:pic>
        <p:nvPicPr>
          <p:cNvPr descr="image.png" id="167" name="Google Shape;16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14525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Feature: The Sentiment Dashboard (Trends)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619375"/>
            <a:ext cx="52863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71500" y="249971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Test the Model in Real-Time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71500" y="3166467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demonstrate the model's accuracy, you can select from several pre-built conversation simulations from different agents (Alice, Bob, Carol).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571500" y="4381500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allows you to showcase how the model handles a positive resolution, a negative escalation, or a neutral procedural chat, step-by-step.</a:t>
            </a:r>
            <a:endParaRPr/>
          </a:p>
        </p:txBody>
      </p:sp>
      <p:pic>
        <p:nvPicPr>
          <p:cNvPr descr="image.png" id="179" name="Google Shape;17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628900"/>
            <a:ext cx="526732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Demo Feature: Conversation Simulations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619375"/>
            <a:ext cx="52863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571500" y="266729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Analyze Historical Data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71500" y="3334047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Move beyond live analysis. The app allows you to upload an entire CSV of past conversation logs.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571500" y="4213919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feature is perfect for quarterly reviews, analyzing agent team performance, or identifying widespread customer issues from a specific time period.</a:t>
            </a:r>
            <a:endParaRPr/>
          </a:p>
        </p:txBody>
      </p:sp>
      <p:pic>
        <p:nvPicPr>
          <p:cNvPr descr="image.png" id="191" name="Google Shape;19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628900"/>
            <a:ext cx="526732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Power Feature: Batch Analysis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431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571500" y="2280642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 "No-Code" ML Hub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571500" y="2947392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is the most powerful feature. You don't need a separate data science team to update the model.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571500" y="3827264"/>
            <a:ext cx="528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Directly in the app, you can: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733425" y="437292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857250" y="4371975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Select the compute device (GPU/CPU).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733425" y="4850963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857250" y="4850010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Dynamically define the neural network architecture.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733425" y="532899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857250" y="5328046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Train the model on new data and get real-time ETR.</a:t>
            </a:r>
            <a:endParaRPr/>
          </a:p>
        </p:txBody>
      </p:sp>
      <p:pic>
        <p:nvPicPr>
          <p:cNvPr descr="image.png" id="209" name="Google Shape;20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5265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Power Feature: On-Demand Model Training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1762125" y="2398811"/>
            <a:ext cx="90963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Analyze: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live dashboard for real-time, message-by-message sentiment scoring.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1762125" y="2972097"/>
            <a:ext cx="909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Simulate: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Demonstrate model behavior with pre-built positive, negative, and neutral conversation scenarios.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1762125" y="3880544"/>
            <a:ext cx="909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Investigate: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Batch upload historical data (CSV) to find large-scale trends and review past performance.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1762125" y="4788991"/>
            <a:ext cx="9096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Adapt: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Re-train and configure the AI model on the fly, directly in the app, to ensure it constantly improves.</a:t>
            </a:r>
            <a:endParaRPr/>
          </a:p>
        </p:txBody>
      </p:sp>
      <p:pic>
        <p:nvPicPr>
          <p:cNvPr descr="image.png" id="221" name="Google Shape;2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417861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2991147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3899594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4808041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571500" y="5715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Summary: A Complete Sentiment AI Tool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571500" y="14001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 txBox="1"/>
          <p:nvPr/>
        </p:nvSpPr>
        <p:spPr>
          <a:xfrm>
            <a:off x="295275" y="276225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0775" y="1883271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90775" y="2810916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90775" y="37385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0775" y="4666208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0775" y="559385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/>
          <p:nvPr/>
        </p:nvSpPr>
        <p:spPr>
          <a:xfrm>
            <a:off x="2390775" y="2509093"/>
            <a:ext cx="7696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2390775" y="3436739"/>
            <a:ext cx="7696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2390775" y="4364384"/>
            <a:ext cx="7696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2390775" y="5292030"/>
            <a:ext cx="7696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7" name="Google Shape;24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90775" y="188327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 txBox="1"/>
          <p:nvPr/>
        </p:nvSpPr>
        <p:spPr>
          <a:xfrm>
            <a:off x="3486150" y="1876722"/>
            <a:ext cx="6600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https://user-images.githubusercontent.com/34889164/46974588-be51cf00-d0c4-11e8-9215-dd0b64b175e9.png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3486150" y="2122437"/>
            <a:ext cx="6600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github.com</a:t>
            </a:r>
            <a:endParaRPr/>
          </a:p>
        </p:txBody>
      </p:sp>
      <p:pic>
        <p:nvPicPr>
          <p:cNvPr descr="image.png" id="250" name="Google Shape;25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90775" y="281091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3486150" y="2804368"/>
            <a:ext cx="6600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https://www.metabase.com/learn/images/compare-times/side-by-side-dashboard.png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3486150" y="3050083"/>
            <a:ext cx="6600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www.metabase.com</a:t>
            </a:r>
            <a:endParaRPr/>
          </a:p>
        </p:txBody>
      </p:sp>
      <p:pic>
        <p:nvPicPr>
          <p:cNvPr descr="image.png" id="253" name="Google Shape;253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90775" y="37385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3486150" y="3732014"/>
            <a:ext cx="6600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https://www.sliderrevolution.com/wp-content/uploads/2024/09/css-sidebar-menus-f.jpg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3486150" y="3977729"/>
            <a:ext cx="6600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www.sliderrevolution.com</a:t>
            </a:r>
            <a:endParaRPr/>
          </a:p>
        </p:txBody>
      </p:sp>
      <p:pic>
        <p:nvPicPr>
          <p:cNvPr descr="image.png" id="256" name="Google Shape;256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90775" y="466620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3486150" y="4659659"/>
            <a:ext cx="6600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https://wpforms.com/wp-content/uploads/2020/07/how-to-allow-csv-file-uploads-in-wordpress-step-by-step_b.png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3486150" y="4905375"/>
            <a:ext cx="6600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wpforms.com</a:t>
            </a:r>
            <a:endParaRPr/>
          </a:p>
        </p:txBody>
      </p:sp>
      <p:pic>
        <p:nvPicPr>
          <p:cNvPr descr="image.png" id="259" name="Google Shape;259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390775" y="559385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3486150" y="5587305"/>
            <a:ext cx="66008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https://cdn.sanity.io/images/q9c9g16o/production/bcb7b2200262813f5f0035984127219f28c04143-1600x840.webp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3486150" y="5833020"/>
            <a:ext cx="66008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www.webstacks.com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571500" y="495597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63" name="Google Shape;263;p25"/>
          <p:cNvSpPr/>
          <p:nvPr/>
        </p:nvSpPr>
        <p:spPr>
          <a:xfrm>
            <a:off x="571500" y="1324272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