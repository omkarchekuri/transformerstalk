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Lato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9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843980"/>
            <a:ext cx="1160145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Understanding Sentiment AI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32048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Technical Guide to How Chat Data Becomes Insight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00" y="1996975"/>
            <a:ext cx="55506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We are data-rich, but insight-poor.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3120925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need an efficient, scalable way to understand the emotional tone (sentiment) hidden in thousands of daily customer chat logs.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733425" y="433691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57250" y="4335958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Identify moments of high **frustration** in the chat flow.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33425" y="515010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57250" y="5149155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Quantify the impact of **new product features** on customer mood.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33425" y="596330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57250" y="5962352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Proactively manage agent performance and **de-escalation** success.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479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72925"/>
            <a:ext cx="11601450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Business Problem: Scaling Customer Insight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1587400"/>
            <a:ext cx="110490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1980485" y="2144166"/>
            <a:ext cx="8231028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Technical Pipeline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619750" y="3649116"/>
            <a:ext cx="952500" cy="4762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2286000" y="3982491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Converting unstructured text into a continuous numerical score using Natural Language Processing (NLP) and a Feedforward Neural Network.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71500" y="1725513"/>
            <a:ext cx="511173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Breaking Text into Processable Units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2849463"/>
            <a:ext cx="4868316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Before a machine can read, it must segment the raw text into individual **tokens** (words, punctuation, or special characters). This cleans the data and prepares it for encoding.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916066" y="1725513"/>
            <a:ext cx="59896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Python Implementation (NLTK)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733425" y="4400609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57250" y="4399657"/>
            <a:ext cx="4582566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**Lowercase:** Uniform text to treat "The" and "the" as the same token.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733425" y="5213806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57250" y="5212853"/>
            <a:ext cx="4582566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**Remove Stopwords:** Optionally remove common words ("is", "a", "the") that add little meaning.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487263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Step 1: Tokenization (The "Lego" Step)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71500" y="1315938"/>
            <a:ext cx="110490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571500" y="2507456"/>
            <a:ext cx="501562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Giving Meaning to Numbers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71500" y="3174206"/>
            <a:ext cx="4776787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computer cannot process text, only numbers. **Word Embeddings** are vector representations (lists of numbers) that map words to a high-dimensional space.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71500" y="4724400"/>
            <a:ext cx="4776787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Words with similar meanings (e.g., "angry" and "furious") are mathematically positioned **closer together** in this space, capturing semantic relationships.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824537" y="2507456"/>
            <a:ext cx="608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Conceptual Vector Look-up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571500" y="571500"/>
            <a:ext cx="11601450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Step 2: Word Embeddings (Converting Words to Vectors)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571500" y="2085975"/>
            <a:ext cx="110490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71500" y="2105025"/>
            <a:ext cx="501562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Term Frequency-Inverse Document Frequency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571500" y="3228975"/>
            <a:ext cx="4776787" cy="1675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use **TF-IDF** to generate a final vector for the entire chat message. This technique weights tokens based on how often they appear in *this* document (TF) versus how rare they are across *all* documents (IDF).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571500" y="5114329"/>
            <a:ext cx="4776787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result is a sparse vector where words like "amazing" or "broken" get a high feature value, while "the" gets near zero.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5824537" y="2105025"/>
            <a:ext cx="608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Scikit-learn TF-IDF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571500" y="180975"/>
            <a:ext cx="11601450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Implementation: TF-IDF (The Feature Extractor)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71500" y="1695450"/>
            <a:ext cx="110490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09750"/>
            <a:ext cx="11049000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/>
        </p:nvSpPr>
        <p:spPr>
          <a:xfrm>
            <a:off x="3852862" y="1917501"/>
            <a:ext cx="47105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FNN Structure for Regression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571500" y="2727126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**vector** (our input) is fed through interconnected layers. Each connection has a weight (a learned parameter), which the network adjusts to calculate the final sentiment score.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Step 3: The AI "Brain" (Feedforward Network)</a:t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/>
        </p:nvSpPr>
        <p:spPr>
          <a:xfrm>
            <a:off x="571500" y="1793081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Introducing Non-Linearity (ReLU)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571500" y="2459831"/>
            <a:ext cx="52863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**ReLU** (Rectified Linear Unit) function is used in hidden layers. It introduces non-linearity, allowing the model to learn complex relationships that are not straight lines. It's fast and efficient.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571500" y="40862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Output Range Control (Tanh)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571500" y="4752975"/>
            <a:ext cx="52863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**Tanh** (Hyperbolic Tangent) function is used in the final layer. It maps the output of the network to a range of **-1.0 to +1.0**, which perfectly represents our desired sentiment scale.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6334125" y="1793081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PyTorch Activation Definitions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571500" y="554831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Key Component: Activation Functions</a:t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571500" y="1383506"/>
            <a:ext cx="110490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6648"/>
            <a:ext cx="3429000" cy="38289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476648"/>
            <a:ext cx="3429000" cy="38289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476648"/>
            <a:ext cx="3429000" cy="382890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 txBox="1"/>
          <p:nvPr/>
        </p:nvSpPr>
        <p:spPr>
          <a:xfrm>
            <a:off x="795813" y="3486298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The "Referee" (Loss Function)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866775" y="4467373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Calculates the **penalty score** by measuring the distance between the model's prediction and the true (labeled) sentiment. We use **MSE (Mean Squared Error)**.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4605813" y="3486298"/>
            <a:ext cx="2980372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The "Coach" (Optimizer)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4676775" y="4467373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 algorithm (**Adam**) that uses the Loss value to calculate the **gradient** (direction of steepest error reduction) and adjusts the model's weights accordingly.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8810863" y="3486298"/>
            <a:ext cx="219027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Backpropagation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8486775" y="4133998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process of propagating the error backward through the network, allowing every weight to be updated proportionally to its contribution to the final error.</a:t>
            </a:r>
            <a:endParaRPr/>
          </a:p>
        </p:txBody>
      </p:sp>
      <p:pic>
        <p:nvPicPr>
          <p:cNvPr descr="image.png" id="183" name="Google Shape;18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4550" y="2790973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79097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279097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571500" y="552598"/>
            <a:ext cx="11601450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Learning Mechanics: How the Model Optimizes</a:t>
            </a:r>
            <a:endParaRPr/>
          </a:p>
        </p:txBody>
      </p:sp>
      <p:sp>
        <p:nvSpPr>
          <p:cNvPr id="187" name="Google Shape;187;p21"/>
          <p:cNvSpPr/>
          <p:nvPr/>
        </p:nvSpPr>
        <p:spPr>
          <a:xfrm>
            <a:off x="571500" y="2067073"/>
            <a:ext cx="110490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/>
        </p:nvSpPr>
        <p:spPr>
          <a:xfrm>
            <a:off x="571500" y="1981200"/>
            <a:ext cx="55506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Minimizing Error Through Squared Differences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571500" y="3105150"/>
            <a:ext cx="52863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Mean Squared Error (MSE) is ideal for regression tasks like predicting a continuous score (-1.0 to 1.0). It squares the difference between the **Predicted** value and the **Actual** (True) value.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571500" y="4655343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Squaring the error penalizes larger mistakes more heavily, encouraging the model to become highly accurate.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6334125" y="19812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PyTorch MSE Loss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Concept: The Loss Function (MSE)</a:t>
            </a:r>
            <a:endParaRPr/>
          </a:p>
        </p:txBody>
      </p:sp>
      <p:sp>
        <p:nvSpPr>
          <p:cNvPr id="198" name="Google Shape;198;p22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571500" y="1935956"/>
            <a:ext cx="46315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Adaptive Moment Estimation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571500" y="3059906"/>
            <a:ext cx="4410967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use the **Adam** optimizer, which is the industry standard. It's an extension of Gradient Descent that uses adaptive learning rates for each weight.</a:t>
            </a:r>
            <a:endParaRPr/>
          </a:p>
        </p:txBody>
      </p:sp>
      <p:sp>
        <p:nvSpPr>
          <p:cNvPr id="206" name="Google Shape;206;p23"/>
          <p:cNvSpPr txBox="1"/>
          <p:nvPr/>
        </p:nvSpPr>
        <p:spPr>
          <a:xfrm>
            <a:off x="571500" y="4610100"/>
            <a:ext cx="4410967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**Learning Rate (LR)** is crucial: it controls the size of the steps the optimizer takes. Too large, and the model overshoots; too small, and training takes forever.</a:t>
            </a:r>
            <a:endParaRPr/>
          </a:p>
        </p:txBody>
      </p:sp>
      <p:sp>
        <p:nvSpPr>
          <p:cNvPr id="207" name="Google Shape;207;p23"/>
          <p:cNvSpPr txBox="1"/>
          <p:nvPr/>
        </p:nvSpPr>
        <p:spPr>
          <a:xfrm>
            <a:off x="5458717" y="1935956"/>
            <a:ext cx="646987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PyTorch Adam Optimizer</a:t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Concept: The Optimizer (Adam)</a:t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4"/>
          <p:cNvSpPr txBox="1"/>
          <p:nvPr/>
        </p:nvSpPr>
        <p:spPr>
          <a:xfrm>
            <a:off x="571500" y="2031206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Engine of Machine Learning</a:t>
            </a:r>
            <a:endParaRPr/>
          </a:p>
        </p:txBody>
      </p:sp>
      <p:sp>
        <p:nvSpPr>
          <p:cNvPr id="216" name="Google Shape;216;p24"/>
          <p:cNvSpPr txBox="1"/>
          <p:nvPr/>
        </p:nvSpPr>
        <p:spPr>
          <a:xfrm>
            <a:off x="571500" y="2697956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 **Epoch** is one full pass over the entire training dataset. For each batch of data, we perform the four critical steps:</a:t>
            </a:r>
            <a:endParaRPr/>
          </a:p>
        </p:txBody>
      </p:sp>
      <p:sp>
        <p:nvSpPr>
          <p:cNvPr id="217" name="Google Shape;217;p24"/>
          <p:cNvSpPr txBox="1"/>
          <p:nvPr/>
        </p:nvSpPr>
        <p:spPr>
          <a:xfrm>
            <a:off x="6334125" y="176212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PyTorch Training Code</a:t>
            </a:r>
            <a:endParaRPr/>
          </a:p>
        </p:txBody>
      </p:sp>
      <p:sp>
        <p:nvSpPr>
          <p:cNvPr id="218" name="Google Shape;218;p24"/>
          <p:cNvSpPr txBox="1"/>
          <p:nvPr/>
        </p:nvSpPr>
        <p:spPr>
          <a:xfrm>
            <a:off x="781050" y="3913941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219" name="Google Shape;219;p24"/>
          <p:cNvSpPr txBox="1"/>
          <p:nvPr/>
        </p:nvSpPr>
        <p:spPr>
          <a:xfrm>
            <a:off x="952500" y="3912989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**Forward Pass:** Calculate the prediction.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781050" y="4344352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952500" y="4343400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**Calculate Loss:** Measure the error.</a:t>
            </a:r>
            <a:endParaRPr/>
          </a:p>
        </p:txBody>
      </p:sp>
      <p:sp>
        <p:nvSpPr>
          <p:cNvPr id="222" name="Google Shape;222;p24"/>
          <p:cNvSpPr txBox="1"/>
          <p:nvPr/>
        </p:nvSpPr>
        <p:spPr>
          <a:xfrm>
            <a:off x="781050" y="4774763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223" name="Google Shape;223;p24"/>
          <p:cNvSpPr txBox="1"/>
          <p:nvPr/>
        </p:nvSpPr>
        <p:spPr>
          <a:xfrm>
            <a:off x="952500" y="4773810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**Backward Pass:** Calculate the gradient (how weights should change).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781050" y="5540335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225" name="Google Shape;225;p24"/>
          <p:cNvSpPr txBox="1"/>
          <p:nvPr/>
        </p:nvSpPr>
        <p:spPr>
          <a:xfrm>
            <a:off x="952500" y="5539382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**Optimizer Step:** Apply the calculated changes.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571500" y="523875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Training Loop (Code Integration)</a:t>
            </a:r>
            <a:endParaRPr/>
          </a:p>
        </p:txBody>
      </p:sp>
      <p:sp>
        <p:nvSpPr>
          <p:cNvPr id="227" name="Google Shape;227;p24"/>
          <p:cNvSpPr/>
          <p:nvPr/>
        </p:nvSpPr>
        <p:spPr>
          <a:xfrm>
            <a:off x="571500" y="1352550"/>
            <a:ext cx="110490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5"/>
          <p:cNvSpPr txBox="1"/>
          <p:nvPr/>
        </p:nvSpPr>
        <p:spPr>
          <a:xfrm>
            <a:off x="571500" y="171509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Leveraging the AI Score</a:t>
            </a:r>
            <a:endParaRPr/>
          </a:p>
        </p:txBody>
      </p:sp>
      <p:sp>
        <p:nvSpPr>
          <p:cNvPr id="234" name="Google Shape;234;p25"/>
          <p:cNvSpPr txBox="1"/>
          <p:nvPr/>
        </p:nvSpPr>
        <p:spPr>
          <a:xfrm>
            <a:off x="571500" y="2381845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resulting sentiment score (-1.0 to +1.0) is instantly actionable and allows us to shift from reactive monitoring to **proactive data-driven strategy**.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733425" y="359783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6" name="Google Shape;236;p25"/>
          <p:cNvSpPr txBox="1"/>
          <p:nvPr/>
        </p:nvSpPr>
        <p:spPr>
          <a:xfrm>
            <a:off x="857250" y="3596878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**Auto-Routing:** Direct highly negative chats to senior agents.</a:t>
            </a:r>
            <a:endParaRPr/>
          </a:p>
        </p:txBody>
      </p:sp>
      <p:sp>
        <p:nvSpPr>
          <p:cNvPr id="237" name="Google Shape;237;p25"/>
          <p:cNvSpPr txBox="1"/>
          <p:nvPr/>
        </p:nvSpPr>
        <p:spPr>
          <a:xfrm>
            <a:off x="733425" y="441102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8" name="Google Shape;238;p25"/>
          <p:cNvSpPr txBox="1"/>
          <p:nvPr/>
        </p:nvSpPr>
        <p:spPr>
          <a:xfrm>
            <a:off x="857250" y="4410075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**A/B Testing:** Quantify the sentiment impact of different email subject lines.</a:t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733425" y="522422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857250" y="5223271"/>
            <a:ext cx="50006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**Product Feedback Loop:** Automatically tag and aggregate negative comments related to specific product features.</a:t>
            </a:r>
            <a:endParaRPr/>
          </a:p>
        </p:txBody>
      </p:sp>
      <p:pic>
        <p:nvPicPr>
          <p:cNvPr descr="image.png" id="241" name="Google Shape;24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050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 txBox="1"/>
          <p:nvPr/>
        </p:nvSpPr>
        <p:spPr>
          <a:xfrm>
            <a:off x="571500" y="476845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Business Value: Decisions, Not Just Data</a:t>
            </a:r>
            <a:endParaRPr/>
          </a:p>
        </p:txBody>
      </p:sp>
      <p:sp>
        <p:nvSpPr>
          <p:cNvPr id="243" name="Google Shape;243;p25"/>
          <p:cNvSpPr/>
          <p:nvPr/>
        </p:nvSpPr>
        <p:spPr>
          <a:xfrm>
            <a:off x="571500" y="1305520"/>
            <a:ext cx="11049000" cy="2857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6"/>
          <p:cNvSpPr txBox="1"/>
          <p:nvPr/>
        </p:nvSpPr>
        <p:spPr>
          <a:xfrm>
            <a:off x="295275" y="244599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50" name="Google Shape;250;p26"/>
          <p:cNvSpPr txBox="1"/>
          <p:nvPr/>
        </p:nvSpPr>
        <p:spPr>
          <a:xfrm>
            <a:off x="571500" y="381759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Thank you for your time.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