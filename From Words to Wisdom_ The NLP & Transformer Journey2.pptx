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35.png"/><Relationship Id="rId7" Type="http://schemas.openxmlformats.org/officeDocument/2006/relationships/image" Target="../media/image3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21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5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54.png"/><Relationship Id="rId5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46.png"/><Relationship Id="rId6" Type="http://schemas.openxmlformats.org/officeDocument/2006/relationships/image" Target="../media/image25.png"/><Relationship Id="rId7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Relationship Id="rId4" Type="http://schemas.openxmlformats.org/officeDocument/2006/relationships/image" Target="../media/image28.png"/><Relationship Id="rId11" Type="http://schemas.openxmlformats.org/officeDocument/2006/relationships/image" Target="../media/image51.png"/><Relationship Id="rId10" Type="http://schemas.openxmlformats.org/officeDocument/2006/relationships/image" Target="../media/image43.png"/><Relationship Id="rId9" Type="http://schemas.openxmlformats.org/officeDocument/2006/relationships/image" Target="../media/image44.png"/><Relationship Id="rId5" Type="http://schemas.openxmlformats.org/officeDocument/2006/relationships/image" Target="../media/image33.png"/><Relationship Id="rId6" Type="http://schemas.openxmlformats.org/officeDocument/2006/relationships/image" Target="../media/image42.png"/><Relationship Id="rId7" Type="http://schemas.openxmlformats.org/officeDocument/2006/relationships/image" Target="../media/image38.png"/><Relationship Id="rId8" Type="http://schemas.openxmlformats.org/officeDocument/2006/relationships/image" Target="../media/image5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5.png"/><Relationship Id="rId4" Type="http://schemas.openxmlformats.org/officeDocument/2006/relationships/image" Target="../media/image55.png"/><Relationship Id="rId9" Type="http://schemas.openxmlformats.org/officeDocument/2006/relationships/image" Target="../media/image52.png"/><Relationship Id="rId5" Type="http://schemas.openxmlformats.org/officeDocument/2006/relationships/image" Target="../media/image40.png"/><Relationship Id="rId6" Type="http://schemas.openxmlformats.org/officeDocument/2006/relationships/image" Target="../media/image49.png"/><Relationship Id="rId7" Type="http://schemas.openxmlformats.org/officeDocument/2006/relationships/image" Target="../media/image41.png"/><Relationship Id="rId8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10476" y="2562225"/>
            <a:ext cx="8371046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From Words to Wisdom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09787" y="3762375"/>
            <a:ext cx="79724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 NLP Demo: From Neural Networks to Transformers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571500" y="2000250"/>
            <a:ext cx="555069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quest to teach computers to understand, process, and generate human language.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339090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It's the science behind...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95325" y="38671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09625" y="386715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Chatbots and Virtual Assistants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95325" y="42957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09625" y="42957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Sentiment Analysis (Reading Reviews)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95325" y="47244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47244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Machine Translation (Google Translate)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95325" y="51530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09625" y="515302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Summarization and Q&amp;A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Natural Language Processing?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5025"/>
            <a:ext cx="34290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105025"/>
            <a:ext cx="3429000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105025"/>
            <a:ext cx="34290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780936" y="3114675"/>
            <a:ext cx="101012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Corpus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66775" y="3848100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entire collection of text data we use for training (e.g., our 'Alice in Wonderland' text).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225891" y="3114675"/>
            <a:ext cx="174021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Tokenization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76775" y="3848100"/>
            <a:ext cx="283845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Breaking text into pieces (tokens). This is the first step for our demo's SimpleTokenizer.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025890" y="3114675"/>
            <a:ext cx="176022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Embeddings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86775" y="3848100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vector of numbers that represents the 'meaning' of a token. This is what the model learns.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41935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41935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4193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Absolute Basics: Key Terms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"brain" inspired by biology, designed to learn patterns from data.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990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It's made of layers of simple "neurons":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95325" y="34671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809625" y="34671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Input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Takes in the data (e.g., our token embeddings).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695325" y="38957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09625" y="389572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Hidden Layers: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"thinking" part where patterns are found.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95325" y="43243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9625" y="43243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Output Layer: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Produces the final answer (e.g., the next predicted word).</a:t>
            </a:r>
            <a:endParaRPr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What is a Neural Network?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single "neuron" is just a simple calculator.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990850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performs 4 basic steps: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00100" y="346710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1.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46710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Takes in multiple inputs.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0100" y="389572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38957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Multiplies each input by a "weight" (its importance).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00100" y="4324350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3.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4324350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Sums them all up.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00100" y="4752975"/>
            <a:ext cx="152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4.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7529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Passes the total through an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Activation Function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Smallest Piece: A "Neuron"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activation function decides if a neuron "fires" and how strongly.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95325" y="2943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809625" y="29432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It's a "non-linear" function that acts as a gate or a dimmer switch.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95325" y="3657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09625" y="36576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Without it, the entire network would just be one giant, simple equation and couldn't learn complex patterns.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95325" y="4371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09625" y="43719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ReLU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(Rectified Linear Unit) is the most common: "If the signal is negative, output 0. Otherwise, output the signal."</a:t>
            </a:r>
            <a:endParaRPr/>
          </a:p>
        </p:txBody>
      </p:sp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"Dimmer Switch": Activation Functions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1714500" y="2424112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Make a Guess: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model processes an input (e.g., 'alice followed...') and guesses the next word.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714500" y="292893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Measure Error (Loss):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Loss Function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(like nn.CrossEntropyLoss) calculates how "wrong" the guess was.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714500" y="374808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Find Blame (Backpropagation):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error is sent *backward* through the network to find which weights contributed most to the mistake.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714500" y="4567237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Update Weights (Optimization):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Optimizer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(like optim.Adam) slightly adjusts all the weights to make a better guess next time.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471737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2976562"/>
            <a:ext cx="1143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795712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6148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How Do Neural Networks Learn?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08869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1908869"/>
            <a:ext cx="5550693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Basic NNs have no memory. RNNs (Recurrent) and LSTMs were the solution.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95325" y="3251894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09625" y="3251894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They process sequences step-by-step, passing a "memory" (or hidden state) from one word to the next.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95325" y="3966269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09625" y="3966269"/>
            <a:ext cx="50482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what our ToyLLM uses!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95325" y="4404419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09625" y="4404419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They are slow (can't process words in parallel) and can "forget" context from the distant past.</a:t>
            </a:r>
            <a:endParaRPr/>
          </a:p>
        </p:txBody>
      </p:sp>
      <p:pic>
        <p:nvPicPr>
          <p:cNvPr descr="image.png" id="199" name="Google Shape;19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18394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Old Problem: Memory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2017 paper "Attention Is All You Need" changed everything.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95325" y="2943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809625" y="29432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introduced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architecture, which has no RNNs or LSTMs.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95325" y="3657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09625" y="36576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can process all words in a sentence *at the same time* (parallelizable).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95325" y="4371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09625" y="43719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uses a new mechanism called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Self-Attention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find context.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 Better Brain: The Transformer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076450"/>
            <a:ext cx="342900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076450"/>
            <a:ext cx="34290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1565909" y="3086100"/>
            <a:ext cx="144018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What is it?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866775" y="3819525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mechanism that lets the model weigh the importance of *every other word* in the sentence when processing a single word.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505926" y="3086100"/>
            <a:ext cx="118014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Example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4676775" y="3819525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When processing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'it'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 "The rabbit ate the carrot because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was hungry," attention helps the model know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'it'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refers to 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'rabbit'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not the 'carrot'.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420939" y="3086100"/>
            <a:ext cx="97012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Benefit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486775" y="3819525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provides deep, flexible contextual understanding and is much faster to train than RNNs.</a:t>
            </a:r>
            <a:endParaRPr/>
          </a:p>
        </p:txBody>
      </p:sp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3907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3907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3907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Secret Sauce: Self-Attention (The Concept)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2171700"/>
            <a:ext cx="448056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3 Core Vectors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2762250"/>
            <a:ext cx="42672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Every word is transformed into three vectors: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219700" y="2151012"/>
            <a:ext cx="672084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Simplified PyTorch Concept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219700" y="4897487"/>
            <a:ext cx="6400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Context Vector becomes the enhanced, context-aware input for the next layer.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3238500"/>
            <a:ext cx="4267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Query (Q):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What am I **looking for**? (The word itself)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571500" y="3848100"/>
            <a:ext cx="4267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Key (K):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What **information** do I hold? (All words in the sentence)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4714875"/>
            <a:ext cx="4267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Value (V):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What **context** should I pass along? (All words in the sentence)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Deeper Dive: The Attention Equation (Q, K, V)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571500" y="2000250"/>
            <a:ext cx="5550693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Most transformers are "Encoder-Decoder" models.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695325" y="29432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809625" y="29432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Encoder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"reads" and understands the input (e.g., an English sentence).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695325" y="36576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09625" y="36576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Decoder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"writes" and generates the output (e.g., the French translation).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95325" y="43719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809625" y="43719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GPT-style models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(like ChatGPT) are "Decoder-only" models, which makes them excellent at generation.</a:t>
            </a:r>
            <a:endParaRPr/>
          </a:p>
        </p:txBody>
      </p:sp>
      <p:pic>
        <p:nvPicPr>
          <p:cNvPr descr="image.png" id="260" name="Google Shape;2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High-Level Transformer Architecture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/>
          <p:nvPr/>
        </p:nvSpPr>
        <p:spPr>
          <a:xfrm>
            <a:off x="5619750" y="2519362"/>
            <a:ext cx="952500" cy="4762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1460420" y="2852737"/>
            <a:ext cx="9271158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Our Demo: A 3-Phase Journey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3868935" y="4090987"/>
            <a:ext cx="445397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How we build a modern LLM (like our ToyLLM)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571500" y="20002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Language &amp; Facts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695325" y="2543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809625" y="25431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Next-Word Prediction.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695325" y="29718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809625" y="29718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Massive text corpus (e.g., 'Alice in Wonderland' or the whole internet).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695325" y="3686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809625" y="36861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"completer" model that knows facts but can't answer questions.</a:t>
            </a:r>
            <a:endParaRPr/>
          </a:p>
        </p:txBody>
      </p:sp>
      <p:pic>
        <p:nvPicPr>
          <p:cNvPr descr="image.png" id="283" name="Google Shape;2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1: Foundational Pre-training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571500" y="20002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to Answer Questions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695325" y="2543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3" name="Google Shape;293;p27"/>
          <p:cNvSpPr txBox="1"/>
          <p:nvPr/>
        </p:nvSpPr>
        <p:spPr>
          <a:xfrm>
            <a:off x="809625" y="2543175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Training on (Prompt, Ideal Answer) pairs.</a:t>
            </a:r>
            <a:endParaRPr/>
          </a:p>
        </p:txBody>
      </p:sp>
      <p:sp>
        <p:nvSpPr>
          <p:cNvPr id="294" name="Google Shape;294;p27"/>
          <p:cNvSpPr txBox="1"/>
          <p:nvPr/>
        </p:nvSpPr>
        <p:spPr>
          <a:xfrm>
            <a:off x="695325" y="297180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809625" y="297180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curated dataset of Q&amp;A, instructions, and conversations.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695325" y="3686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809625" y="36861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"by-the-book" expert that answers questions it was trained on.</a:t>
            </a:r>
            <a:endParaRPr/>
          </a:p>
        </p:txBody>
      </p:sp>
      <p:pic>
        <p:nvPicPr>
          <p:cNvPr descr="image.png" id="298" name="Google Shape;29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2: Supervised Fine-Tuning (SFT)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8"/>
          <p:cNvSpPr txBox="1"/>
          <p:nvPr/>
        </p:nvSpPr>
        <p:spPr>
          <a:xfrm>
            <a:off x="571500" y="20002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Goal: Learn "Preferences"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695325" y="254317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809625" y="254317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Method: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"Reward Model" (judge) scores the model's answers. The model is trained to get a high score.</a:t>
            </a:r>
            <a:endParaRPr/>
          </a:p>
        </p:txBody>
      </p:sp>
      <p:sp>
        <p:nvSpPr>
          <p:cNvPr id="309" name="Google Shape;309;p28"/>
          <p:cNvSpPr txBox="1"/>
          <p:nvPr/>
        </p:nvSpPr>
        <p:spPr>
          <a:xfrm>
            <a:off x="695325" y="3257550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809625" y="325755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Human preferences (e.g., "Answer A is better than Answer B").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695325" y="3971925"/>
            <a:ext cx="1143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809625" y="39719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 "aligned" assistant that gives helpful answers even to new questions.</a:t>
            </a:r>
            <a:endParaRPr/>
          </a:p>
        </p:txBody>
      </p:sp>
      <p:pic>
        <p:nvPicPr>
          <p:cNvPr descr="image.png" id="313" name="Google Shape;31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0097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Phase 3: Reinforcement Learning (RLHF)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11994"/>
            <a:ext cx="7038082" cy="3986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85832" y="1911994"/>
            <a:ext cx="6237982" cy="398651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705586" y="2207269"/>
            <a:ext cx="676990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Model (ToyLLM)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866775" y="2712094"/>
            <a:ext cx="644753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model uses the basic building blocks: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9299376" y="2207269"/>
            <a:ext cx="38108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The Training Loop (simulate_pretraining)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8381107" y="2712094"/>
            <a:ext cx="381089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is the "learning" process that drives all phases: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Connecting to Our Demo Code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1714500" y="2581275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NLP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turns words into numerical vectors (Embeddings) that computers can understand.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1714500" y="3086100"/>
            <a:ext cx="914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Neural Networks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learn by iterating over Loss and Backpropagation.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1714500" y="3590925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Transformer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's power comes from </a:t>
            </a:r>
            <a:r>
              <a:rPr b="1" i="0" lang="en-US" sz="16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Self-Attention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using **Query, Key, and Value** vectors to weigh contextual relevance across all words simultaneously.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1714500" y="4410075"/>
            <a:ext cx="914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path to a modern assistant is: **Pre-training** (knowledge) -&gt; **SFT** (skills) -&gt; **RLHF** (alignment).</a:t>
            </a:r>
            <a:endParaRPr/>
          </a:p>
        </p:txBody>
      </p:sp>
      <p:pic>
        <p:nvPicPr>
          <p:cNvPr descr="image.png" id="336" name="Google Shape;33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28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13372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6385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4577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1"/>
          <p:cNvSpPr txBox="1"/>
          <p:nvPr/>
        </p:nvSpPr>
        <p:spPr>
          <a:xfrm>
            <a:off x="295275" y="276225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17383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8875" y="5595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/>
          <p:nvPr/>
        </p:nvSpPr>
        <p:spPr>
          <a:xfrm>
            <a:off x="2428875" y="2357437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2"/>
          <p:cNvSpPr/>
          <p:nvPr/>
        </p:nvSpPr>
        <p:spPr>
          <a:xfrm>
            <a:off x="2428875" y="3128962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2"/>
          <p:cNvSpPr/>
          <p:nvPr/>
        </p:nvSpPr>
        <p:spPr>
          <a:xfrm>
            <a:off x="2428875" y="3900487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2"/>
          <p:cNvSpPr/>
          <p:nvPr/>
        </p:nvSpPr>
        <p:spPr>
          <a:xfrm>
            <a:off x="2428875" y="4672012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2"/>
          <p:cNvSpPr/>
          <p:nvPr/>
        </p:nvSpPr>
        <p:spPr>
          <a:xfrm>
            <a:off x="2428875" y="5443537"/>
            <a:ext cx="73342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63" name="Google Shape;36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28875" y="17383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3524250" y="1745456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https://smythos.com/wp-content/uploads/2024/11/human-brain-symbolic-ai-842x632.jpeg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3524250" y="1978818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smythos.com</a:t>
            </a:r>
            <a:endParaRPr/>
          </a:p>
        </p:txBody>
      </p:sp>
      <p:pic>
        <p:nvPicPr>
          <p:cNvPr descr="image.png" id="366" name="Google Shape;366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428875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/>
          <p:nvPr/>
        </p:nvSpPr>
        <p:spPr>
          <a:xfrm>
            <a:off x="3524250" y="2516981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https://media.geeksforgeeks.org/wp-content/uploads/20240719175629/Input-Layer-in-an-ANN.webp</a:t>
            </a:r>
            <a:endParaRPr/>
          </a:p>
        </p:txBody>
      </p:sp>
      <p:sp>
        <p:nvSpPr>
          <p:cNvPr id="368" name="Google Shape;368;p32"/>
          <p:cNvSpPr txBox="1"/>
          <p:nvPr/>
        </p:nvSpPr>
        <p:spPr>
          <a:xfrm>
            <a:off x="3524250" y="2750343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369" name="Google Shape;369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28875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3524250" y="3288506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https://towardsdatascience.com/wp-content/uploads/2021/12/1hkYlTODpjJgo32DoCOWN5w.png</a:t>
            </a:r>
            <a:endParaRPr/>
          </a:p>
        </p:txBody>
      </p:sp>
      <p:sp>
        <p:nvSpPr>
          <p:cNvPr id="371" name="Google Shape;371;p32"/>
          <p:cNvSpPr txBox="1"/>
          <p:nvPr/>
        </p:nvSpPr>
        <p:spPr>
          <a:xfrm>
            <a:off x="3524250" y="3521868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towardsdatascience.com</a:t>
            </a:r>
            <a:endParaRPr/>
          </a:p>
        </p:txBody>
      </p:sp>
      <p:pic>
        <p:nvPicPr>
          <p:cNvPr descr="image.png" id="372" name="Google Shape;372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28875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 txBox="1"/>
          <p:nvPr/>
        </p:nvSpPr>
        <p:spPr>
          <a:xfrm>
            <a:off x="3524250" y="4060031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https://api.wandb.ai/files/ayush-thakur/images/projects/103390/26bec8a6.png</a:t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3524250" y="4293393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wandb.ai</a:t>
            </a:r>
            <a:endParaRPr/>
          </a:p>
        </p:txBody>
      </p:sp>
      <p:pic>
        <p:nvPicPr>
          <p:cNvPr descr="image.png" id="375" name="Google Shape;375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28875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2"/>
          <p:cNvSpPr txBox="1"/>
          <p:nvPr/>
        </p:nvSpPr>
        <p:spPr>
          <a:xfrm>
            <a:off x="3524250" y="4831556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https://media.geeksforgeeks.org/wp-content/uploads/20250523171309383561/recurrent_neural_network.webp</a:t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3524250" y="5064918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descr="image.png" id="378" name="Google Shape;378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428875" y="5595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 txBox="1"/>
          <p:nvPr/>
        </p:nvSpPr>
        <p:spPr>
          <a:xfrm>
            <a:off x="3524250" y="5603081"/>
            <a:ext cx="6238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https://miro.medium.com/0*mxrHZpguNK-hfDrd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3524250" y="5836443"/>
            <a:ext cx="623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sp>
        <p:nvSpPr>
          <p:cNvPr id="381" name="Google Shape;381;p3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6" name="Google Shape;3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4712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14712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3"/>
          <p:cNvSpPr/>
          <p:nvPr/>
        </p:nvSpPr>
        <p:spPr>
          <a:xfrm>
            <a:off x="3414712" y="3128962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3414712" y="3900487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3414712" y="4672012"/>
            <a:ext cx="53625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4" name="Google Shape;39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14712" y="250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3"/>
          <p:cNvSpPr txBox="1"/>
          <p:nvPr/>
        </p:nvSpPr>
        <p:spPr>
          <a:xfrm>
            <a:off x="4510087" y="2516981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https://www.practicalai.io/wp-content/uploads/2023/02/encoder-decoder.png</a:t>
            </a:r>
            <a:endParaRPr/>
          </a:p>
        </p:txBody>
      </p:sp>
      <p:sp>
        <p:nvSpPr>
          <p:cNvPr id="396" name="Google Shape;396;p33"/>
          <p:cNvSpPr txBox="1"/>
          <p:nvPr/>
        </p:nvSpPr>
        <p:spPr>
          <a:xfrm>
            <a:off x="4510087" y="2750343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www.practicalai.io</a:t>
            </a:r>
            <a:endParaRPr/>
          </a:p>
        </p:txBody>
      </p:sp>
      <p:pic>
        <p:nvPicPr>
          <p:cNvPr descr="image.png" id="397" name="Google Shape;397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4712" y="32813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 txBox="1"/>
          <p:nvPr/>
        </p:nvSpPr>
        <p:spPr>
          <a:xfrm>
            <a:off x="4510087" y="3288506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https://miro.medium.com/1*pRuWa3mek-ubreFtja6YPQ.png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4510087" y="3521868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python.plainenglish.io</a:t>
            </a:r>
            <a:endParaRPr/>
          </a:p>
        </p:txBody>
      </p:sp>
      <p:pic>
        <p:nvPicPr>
          <p:cNvPr descr="image.png" id="400" name="Google Shape;400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14712" y="40528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4510087" y="4060031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https://miro.medium.com/1*jMVDYyKUWfzpdQ1Kx7FM_g.png</a:t>
            </a:r>
            <a:endParaRPr/>
          </a:p>
        </p:txBody>
      </p:sp>
      <p:sp>
        <p:nvSpPr>
          <p:cNvPr id="402" name="Google Shape;402;p33"/>
          <p:cNvSpPr txBox="1"/>
          <p:nvPr/>
        </p:nvSpPr>
        <p:spPr>
          <a:xfrm>
            <a:off x="4510087" y="4293393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medium.com</a:t>
            </a:r>
            <a:endParaRPr/>
          </a:p>
        </p:txBody>
      </p:sp>
      <p:pic>
        <p:nvPicPr>
          <p:cNvPr descr="image.png" id="403" name="Google Shape;403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14712" y="4824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3"/>
          <p:cNvSpPr txBox="1"/>
          <p:nvPr/>
        </p:nvSpPr>
        <p:spPr>
          <a:xfrm>
            <a:off x="4510087" y="4831556"/>
            <a:ext cx="42672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https://miro.medium.com/1*PK8BewZA0daezu-rZWm_Wg.png</a:t>
            </a:r>
            <a:endParaRPr/>
          </a:p>
        </p:txBody>
      </p:sp>
      <p:sp>
        <p:nvSpPr>
          <p:cNvPr id="405" name="Google Shape;405;p33"/>
          <p:cNvSpPr txBox="1"/>
          <p:nvPr/>
        </p:nvSpPr>
        <p:spPr>
          <a:xfrm>
            <a:off x="4510087" y="5064918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pub.towardsai.net</a:t>
            </a:r>
            <a:endParaRPr/>
          </a:p>
        </p:txBody>
      </p:sp>
      <p:sp>
        <p:nvSpPr>
          <p:cNvPr id="406" name="Google Shape;406;p3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