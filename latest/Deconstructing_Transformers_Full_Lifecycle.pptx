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44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45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9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54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45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0339" y="2562225"/>
            <a:ext cx="1057132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Deconstructing Transformers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2037" y="3762375"/>
            <a:ext cx="10067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Introduction to "Attention Is All You Need"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09750" y="2566987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Transformers, models (like RNNs &amp; LSTMs) processed text one word at a time.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167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Sequential &amp; Slow: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was very slow for long sentences. You couldn't process all words at once (no parallelism).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929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The "Forgetting" Problem: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Models struggled to remember information from the *beginning* of a long sentence by the time they reached the *end*.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691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Vanishing Gradients: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"signal" or importance from early words would get weaker and weaker as it passed through each step, making it hard to train.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146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76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386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Problem: What Transformers Solve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057400" y="2033885"/>
            <a:ext cx="8077200" cy="3199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Stop processing words one by one. Instead, look at all words in the sentence at the same time and decide which ones are most important.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019550" y="5519439"/>
            <a:ext cx="4152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The core idea of "Attention Is All You Need"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581150" y="231963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334625" y="513844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Big Idea: Self-Attention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Two Main Parts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647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Transformer is an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Encoder-Decoder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model. Think of it like a translator: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95325" y="3409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4099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The Encoder (Left):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Reads and "understands" the entire input sentence (e.g., English). Its job is to build a rich, contextual representation of every word.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95325" y="44100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44100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The Decoder (Right):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Takes the Encoder's "understanding" and generates the output sentence (e.g., French), one word at a time.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High-Level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62025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1. Self-Attention Layer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62025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magic. For every word, this layer lets it "look at" all other words in the *input* sentence.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62025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then decides which other words are most relevant to *this* word's meaning. For example, in "The animal didn't cross the street because **it** was too tired," this layer helps "it" know it refers to "animal".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2. Feed-Forward Network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After the attention layer, the output for each word is passed through a simple, identical neural network.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network processes each word's representation individually and adds more computational depth, helping the model learn more complex patterns from the attention output.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Encoder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955833" y="3133725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Masked Self-Attention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66775" y="376237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like the Encoder's self-attention, but it's "masked." When generating word #3, it can only look at words #1 and #2. It's blocked from "cheating" by looking at future words.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05813" y="31337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Encoder-Decoder Attention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76775" y="409575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key! The Decoder "pays attention" to the Encoder's output. It looks at all the input words to decide which ones are most relevant for generating the *current* output word.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45830" y="3133725"/>
            <a:ext cx="27203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Feed-Forward Network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86775" y="37623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 like in the Encoder, this is a simple neural network that processes the final representation after all the attention steps are done.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Decoder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809750" y="2543175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Attention is calculated using three vectors for each word: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Query, Key, and Value.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809750" y="4953000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finds the best-matching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then returns the corresponding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2190750" y="3143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Query (Q):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"search query." It asks: "What am I looking for?"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2190750" y="36195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Key (K):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"label" or "ID." It says: "This is what I am." The Query is compared against all the Keys.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Value (V):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actual "content" or "meaning."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67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4291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Magic: How "Attention" 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45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6334125" y="19145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Asking 8 Experts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334125" y="25622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calculating attention just once, "Multi-Head" attention runs it multiple times in parallel (e.g., 8 "heads").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334125" y="33242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like asking 8 different experts to look at the sentence: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34125" y="51339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gives a much richer, more nuanced understanding of the sentence.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240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6457950" y="3800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572250" y="38004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 "head" might focus on "who did what."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457950" y="4229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572250" y="42291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"what action was taken."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57950" y="4657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572250" y="46577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grammatical relationships.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What is "Multi-Head" Attention?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62025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Positional Encodings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62025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Since the model sees all words at once (unlike an RNN), it has no idea what their *order* is. "Man bites dog" and "Dog bites man" would look the same.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2025" y="406241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add a "vector" (a list of numbers) to each word that gives it a unique "ZIP code" based on its position (e.g., 1st word, 2nd word, 3rd...). This injects the word's position into its meaning.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24650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Layer Normalization ("Norms")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24650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 data flows through many layers (like attention and feed-forward), the numbers (vectors) can become too large or small, making training unstable and slow.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24650" y="4062412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After each sub-layer, we "normalize" the numbers. This "resets" the data's scale (mean=0, variance=1) and helps the model train much faster and more reliably.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1)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809750" y="2805112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will always see "Add &amp; Norm" after each sub-layer. Here's what it means: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190750" y="3405187"/>
            <a:ext cx="8191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"Add" (Residual Connection):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take the *original input* to the layer and add it to the *output* of the layer. This "shortcut" prevents the model from "forgetting" the original information and makes it easier to train very deep networks.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4452937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"Norm" (Layer Normalization):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step we just discussed. It's applied *after* the "Add" step to re-stabilize the data before it goes to the next layer.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5281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005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630918" y="3414712"/>
            <a:ext cx="13101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Parallelism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66775" y="40433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RNNs, all input words are processed at once. This makes it *massively* faster to train on modern hardware like GPUs.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485923" y="3414712"/>
            <a:ext cx="12201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467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design is highly scalable. We can stack more layers and add more data to create *massive* models (like BERT, GPT, and LLMs).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720851" y="3414712"/>
            <a:ext cx="23702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Better Performance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48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Self-attention is more effective at capturing long-range dependencies, leading to new state-of-the-art results in almost every NLP task.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93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Why Transformers Won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/>
          <p:nvPr/>
        </p:nvSpPr>
        <p:spPr>
          <a:xfrm>
            <a:off x="5619750" y="2514600"/>
            <a:ext cx="952500" cy="47625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3320653" y="2847975"/>
            <a:ext cx="555069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Beyond the Model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895725" y="4105275"/>
            <a:ext cx="4400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Full Lifecycle of a Deployed Language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519019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1. Data Collection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4629150"/>
            <a:ext cx="2099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Gathering raw text data.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2756352" y="2238375"/>
            <a:ext cx="220418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2. Data Preparation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2808833" y="3057525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Cleaning, tokenizing, and filtering.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4993685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3. Model Training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5046166" y="4629150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Pre-training &amp; Fine-tuning (SFT/RLHF).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7231019" y="2800350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4. Deployment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7283499" y="3286125"/>
            <a:ext cx="2099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Serving the model via an API.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9468352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5. Monitoring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9520832" y="4629150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Watching for drift and new patterns.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152586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763193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6000526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823785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10475193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ML Model Lifecycle: A High-Level 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8825"/>
            <a:ext cx="528637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8825"/>
            <a:ext cx="528637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962025" y="24193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29908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model's "knowledge" comes from its data. We source text from: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724650" y="24193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724650" y="2990850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data is messy. This is the most time-consuming step: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1104900" y="3676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200150" y="36766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open internet (e.g., Common Crawl)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104900" y="4076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1200150" y="40767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Books and academic papers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104900" y="4476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200150" y="44767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Code repositories (like GitHub)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1104900" y="4876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200150" y="48768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High-quality curated datasets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6867525" y="3419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6962775" y="341947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Cleaning: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Removing duplicates, spam, and low-quality text.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6867525" y="4076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6962775" y="40767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Splitting text into "tokens" (words or sub-words).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6867525" y="4733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962775" y="473392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Filtering: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Removing toxic content or private information (PII).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1: Data Collection &amp; Preparation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1809750" y="2185987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set of rules to ensure data is secure, accurate, and ethical.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2190750" y="2786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Security &amp; Privacy: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Anonymizing or removing all Personally Identifiable Information (PII) like names, emails, and phone numbers.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2190750" y="3548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Quality: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the data is accurate, consistent, and not full of junk. Bad data leads to a bad model.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2190750" y="4310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Compliance: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Adhering to laws like GDPR (Europe) or CCPA (California) that give users rights over their data.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2190750" y="5072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Lineage: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Keeping a record of where data came from and how it was changed. This is crucial for debugging and auditing.</a:t>
            </a:r>
            <a:endParaRPr/>
          </a:p>
        </p:txBody>
      </p:sp>
      <p:pic>
        <p:nvPicPr>
          <p:cNvPr descr="image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33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956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57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11968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What is Data Governance?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571500" y="19859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Creating the "Base Model"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571500" y="26336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part we discussed earlier. We feed the massive, cleaned dataset (terabytes of text) into our Transformer architecture.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95325" y="36814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809625" y="3681412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learns language, facts, and reasoning by predicting the next word or filling in masked words.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95325" y="43957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809625" y="4395787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process takes weeks or months and costs millions in cloud computing.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695325" y="51101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809625" y="5110162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 is *not* a chatbot. It's a "base model"—a powerful but generalist engine.</a:t>
            </a:r>
            <a:endParaRPr/>
          </a:p>
        </p:txBody>
      </p:sp>
      <p:pic>
        <p:nvPicPr>
          <p:cNvPr descr="image.png" id="314" name="Google Shape;3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5487"/>
            <a:ext cx="5267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2: Model Training (Pre-training)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1045844" y="3248025"/>
            <a:ext cx="24803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What is Fine-Tuning?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866775" y="38766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base model is a generalist. We now "specialize" it for a task (like being a helpful assistant) using a small, high-quality dataset.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4605813" y="32480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Supervised Fine-Tuning (SFT)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4676775" y="421005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"show" the model good examples. We create thousands of high-quality "Prompt-Response" pairs, and train the model to match them.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9290923" y="3248025"/>
            <a:ext cx="12301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The Result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8486775" y="38766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learns to follow instructions, adopt a specific persona (e.g., "helpful assistant"), and answer questions in the desired format.</a:t>
            </a:r>
            <a:endParaRPr/>
          </a:p>
        </p:txBody>
      </p:sp>
      <p:pic>
        <p:nvPicPr>
          <p:cNvPr descr="image.png" id="330" name="Google Shape;33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5527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5527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5527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3: Fine-Tuning the Base Model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962025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Step 1: Train a "Reward Model"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962025" y="32480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do we teach a model what's "good"? First, we ask humans to rank several of the model's answers to a prompt from best to worst.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962025" y="419100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then train a *separate model* (the Reward Model) to predict this human ranking. It becomes our "AI Judge."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6724650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Step 2: RLHF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6724650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stands for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Reinforcement Learning from Human Feedback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We now "freeze" our AI Judge.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6724650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Transformer (LLM) generates an answer. The AI Judge scores it. The LLM then updates itself to try and get a *higher* score next time. This process steers the model to be more helpful, honest, and harmless.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4: Making the Model 'Safer' (RLHF)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571500" y="19859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Making it Usable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571500" y="26336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final model is still massive (100s of GB). To make it fast and accessible: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695325" y="33956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809625" y="3395662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Making the model smaller by using lower-precision numbers.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695325" y="41100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809625" y="4110037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 Optimization: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tools to make the model run efficiently on specific hardware (GPUs/TPUs).</a:t>
            </a:r>
            <a:endParaRPr/>
          </a:p>
        </p:txBody>
      </p:sp>
      <p:sp>
        <p:nvSpPr>
          <p:cNvPr id="360" name="Google Shape;360;p31"/>
          <p:cNvSpPr txBox="1"/>
          <p:nvPr/>
        </p:nvSpPr>
        <p:spPr>
          <a:xfrm>
            <a:off x="695325" y="48244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809625" y="4824412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Serving Infrastructure: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Putting the model behind an API (Application Programming Interface) on a server so apps can send it requests.</a:t>
            </a:r>
            <a:endParaRPr/>
          </a:p>
        </p:txBody>
      </p:sp>
      <p:pic>
        <p:nvPicPr>
          <p:cNvPr descr="image.png" id="362" name="Google Shape;36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54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5: Deployment &amp; Serving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1180861" y="3414712"/>
            <a:ext cx="221027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Monitoring for Drift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86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watch the model's performance. Is it getting worse? Are users asking new kinds of questions we didn't expect? (This is "model drift").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4865846" y="3414712"/>
            <a:ext cx="24603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Capturing Feedback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467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log new prompts and (with user permission) capture "thumbs up/down" signals. This identifies where the model is failing or succeeding.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8620839" y="3414712"/>
            <a:ext cx="25703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Retraining (The Loop)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848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new data is used to create new SFT examples and new RLHF preferences. We then re-tune the model, deploy the new version, and the cycle begins again.</a:t>
            </a:r>
            <a:endParaRPr/>
          </a:p>
        </p:txBody>
      </p:sp>
      <p:pic>
        <p:nvPicPr>
          <p:cNvPr descr="image.png" id="378" name="Google Shape;37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6: Monitoring &amp; The Feedback Loop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/>
          <p:nvPr/>
        </p:nvSpPr>
        <p:spPr>
          <a:xfrm>
            <a:off x="571500" y="3043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571500" y="3814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0" name="Google Shape;40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24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4"/>
          <p:cNvSpPr txBox="1"/>
          <p:nvPr/>
        </p:nvSpPr>
        <p:spPr>
          <a:xfrm>
            <a:off x="1666875" y="24312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https://www.practicalai.io/wp-content/uploads/2023/02/encoder-decoder.png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1666875" y="26646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www.practicalai.io</a:t>
            </a:r>
            <a:endParaRPr/>
          </a:p>
        </p:txBody>
      </p:sp>
      <p:pic>
        <p:nvPicPr>
          <p:cNvPr descr="image.png" id="403" name="Google Shape;40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4"/>
          <p:cNvSpPr txBox="1"/>
          <p:nvPr/>
        </p:nvSpPr>
        <p:spPr>
          <a:xfrm>
            <a:off x="1666875" y="32027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https://d2l.ai/_images/multi-head-attention.svg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1666875" y="34361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d2l.ai</a:t>
            </a:r>
            <a:endParaRPr/>
          </a:p>
        </p:txBody>
      </p:sp>
      <p:pic>
        <p:nvPicPr>
          <p:cNvPr descr="image.png" id="406" name="Google Shape;406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/>
        </p:nvSpPr>
        <p:spPr>
          <a:xfrm>
            <a:off x="1666875" y="39671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https://substackcdn.com/image/fetch/f_auto,q_auto:good,fl_progressive:steep/https%3A%2F%2Fsubstack-post-media.s3.amazonaws.com%2Fpublic%2Fimages%2Fc3e159bd-1228-4205-b1eb-5898ab9172d3_1600x856.png</a:t>
            </a:r>
            <a:endParaRPr/>
          </a:p>
        </p:txBody>
      </p:sp>
      <p:sp>
        <p:nvSpPr>
          <p:cNvPr id="408" name="Google Shape;408;p34"/>
          <p:cNvSpPr txBox="1"/>
          <p:nvPr/>
        </p:nvSpPr>
        <p:spPr>
          <a:xfrm>
            <a:off x="1666875" y="43862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www.understandingai.org</a:t>
            </a:r>
            <a:endParaRPr/>
          </a:p>
        </p:txBody>
      </p:sp>
      <p:pic>
        <p:nvPicPr>
          <p:cNvPr descr="image.png" id="409" name="Google Shape;409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4"/>
          <p:cNvSpPr txBox="1"/>
          <p:nvPr/>
        </p:nvSpPr>
        <p:spPr>
          <a:xfrm>
            <a:off x="1666875" y="4917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https://miro.medium.com/v2/resize:fit:1400/1*iLsD4Nnh_lGbgq941CS72A.png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1666875" y="5150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abvijaykumar.medium.com</a:t>
            </a:r>
            <a:endParaRPr/>
          </a:p>
        </p:txBody>
      </p:sp>
      <p:sp>
        <p:nvSpPr>
          <p:cNvPr id="412" name="Google Shape;412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