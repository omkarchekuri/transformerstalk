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y="6858000" cx="12192000"/>
  <p:notesSz cx="6858000" cy="9144000"/>
  <p:embeddedFontLst>
    <p:embeddedFont>
      <p:font typeface="Poppins"/>
      <p:regular r:id="rId33"/>
      <p:bold r:id="rId34"/>
      <p:italic r:id="rId35"/>
      <p:boldItalic r:id="rId36"/>
    </p:embeddedFont>
    <p:embeddedFont>
      <p:font typeface="Lato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Lato-boldItalic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Poppins-regular.fntdata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Poppins-italic.fntdata"/><Relationship Id="rId12" Type="http://schemas.openxmlformats.org/officeDocument/2006/relationships/slide" Target="slides/slide7.xml"/><Relationship Id="rId34" Type="http://schemas.openxmlformats.org/officeDocument/2006/relationships/font" Target="fonts/Poppins-bold.fntdata"/><Relationship Id="rId15" Type="http://schemas.openxmlformats.org/officeDocument/2006/relationships/slide" Target="slides/slide10.xml"/><Relationship Id="rId37" Type="http://schemas.openxmlformats.org/officeDocument/2006/relationships/font" Target="fonts/Lato-regular.fntdata"/><Relationship Id="rId14" Type="http://schemas.openxmlformats.org/officeDocument/2006/relationships/slide" Target="slides/slide9.xml"/><Relationship Id="rId36" Type="http://schemas.openxmlformats.org/officeDocument/2006/relationships/font" Target="fonts/Poppins-boldItalic.fntdata"/><Relationship Id="rId17" Type="http://schemas.openxmlformats.org/officeDocument/2006/relationships/slide" Target="slides/slide12.xml"/><Relationship Id="rId39" Type="http://schemas.openxmlformats.org/officeDocument/2006/relationships/font" Target="fonts/Lato-italic.fntdata"/><Relationship Id="rId16" Type="http://schemas.openxmlformats.org/officeDocument/2006/relationships/slide" Target="slides/slide11.xml"/><Relationship Id="rId38" Type="http://schemas.openxmlformats.org/officeDocument/2006/relationships/font" Target="fonts/Lato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21.png"/><Relationship Id="rId5" Type="http://schemas.openxmlformats.org/officeDocument/2006/relationships/image" Target="../media/image11.png"/><Relationship Id="rId6" Type="http://schemas.openxmlformats.org/officeDocument/2006/relationships/image" Target="../media/image1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5.png"/><Relationship Id="rId5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9" Type="http://schemas.openxmlformats.org/officeDocument/2006/relationships/image" Target="../media/image16.png"/><Relationship Id="rId5" Type="http://schemas.openxmlformats.org/officeDocument/2006/relationships/image" Target="../media/image4.png"/><Relationship Id="rId6" Type="http://schemas.openxmlformats.org/officeDocument/2006/relationships/image" Target="../media/image17.png"/><Relationship Id="rId7" Type="http://schemas.openxmlformats.org/officeDocument/2006/relationships/image" Target="../media/image20.png"/><Relationship Id="rId8" Type="http://schemas.openxmlformats.org/officeDocument/2006/relationships/image" Target="../media/image2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2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3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29.png"/><Relationship Id="rId5" Type="http://schemas.openxmlformats.org/officeDocument/2006/relationships/image" Target="../media/image23.png"/><Relationship Id="rId6" Type="http://schemas.openxmlformats.org/officeDocument/2006/relationships/image" Target="../media/image12.png"/><Relationship Id="rId7" Type="http://schemas.openxmlformats.org/officeDocument/2006/relationships/image" Target="../media/image32.png"/><Relationship Id="rId8" Type="http://schemas.openxmlformats.org/officeDocument/2006/relationships/image" Target="../media/image2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49.png"/><Relationship Id="rId5" Type="http://schemas.openxmlformats.org/officeDocument/2006/relationships/image" Target="../media/image3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51.png"/><Relationship Id="rId5" Type="http://schemas.openxmlformats.org/officeDocument/2006/relationships/image" Target="../media/image61.png"/><Relationship Id="rId6" Type="http://schemas.openxmlformats.org/officeDocument/2006/relationships/image" Target="../media/image48.png"/><Relationship Id="rId7" Type="http://schemas.openxmlformats.org/officeDocument/2006/relationships/image" Target="../media/image5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2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Relationship Id="rId4" Type="http://schemas.openxmlformats.org/officeDocument/2006/relationships/image" Target="../media/image43.png"/><Relationship Id="rId9" Type="http://schemas.openxmlformats.org/officeDocument/2006/relationships/image" Target="../media/image60.png"/><Relationship Id="rId5" Type="http://schemas.openxmlformats.org/officeDocument/2006/relationships/image" Target="../media/image38.png"/><Relationship Id="rId6" Type="http://schemas.openxmlformats.org/officeDocument/2006/relationships/image" Target="../media/image25.png"/><Relationship Id="rId7" Type="http://schemas.openxmlformats.org/officeDocument/2006/relationships/image" Target="../media/image41.png"/><Relationship Id="rId8" Type="http://schemas.openxmlformats.org/officeDocument/2006/relationships/image" Target="../media/image2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Relationship Id="rId4" Type="http://schemas.openxmlformats.org/officeDocument/2006/relationships/image" Target="../media/image15.png"/><Relationship Id="rId5" Type="http://schemas.openxmlformats.org/officeDocument/2006/relationships/image" Target="../media/image1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Relationship Id="rId4" Type="http://schemas.openxmlformats.org/officeDocument/2006/relationships/image" Target="../media/image46.png"/><Relationship Id="rId5" Type="http://schemas.openxmlformats.org/officeDocument/2006/relationships/image" Target="../media/image3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Relationship Id="rId4" Type="http://schemas.openxmlformats.org/officeDocument/2006/relationships/image" Target="../media/image37.png"/><Relationship Id="rId5" Type="http://schemas.openxmlformats.org/officeDocument/2006/relationships/image" Target="../media/image4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Relationship Id="rId4" Type="http://schemas.openxmlformats.org/officeDocument/2006/relationships/image" Target="../media/image29.png"/><Relationship Id="rId5" Type="http://schemas.openxmlformats.org/officeDocument/2006/relationships/image" Target="../media/image23.png"/><Relationship Id="rId6" Type="http://schemas.openxmlformats.org/officeDocument/2006/relationships/image" Target="../media/image12.png"/><Relationship Id="rId7" Type="http://schemas.openxmlformats.org/officeDocument/2006/relationships/image" Target="../media/image62.png"/><Relationship Id="rId8" Type="http://schemas.openxmlformats.org/officeDocument/2006/relationships/image" Target="../media/image4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4.png"/><Relationship Id="rId4" Type="http://schemas.openxmlformats.org/officeDocument/2006/relationships/image" Target="../media/image44.png"/><Relationship Id="rId11" Type="http://schemas.openxmlformats.org/officeDocument/2006/relationships/image" Target="../media/image65.png"/><Relationship Id="rId10" Type="http://schemas.openxmlformats.org/officeDocument/2006/relationships/image" Target="../media/image57.png"/><Relationship Id="rId9" Type="http://schemas.openxmlformats.org/officeDocument/2006/relationships/image" Target="../media/image64.png"/><Relationship Id="rId5" Type="http://schemas.openxmlformats.org/officeDocument/2006/relationships/image" Target="../media/image50.png"/><Relationship Id="rId6" Type="http://schemas.openxmlformats.org/officeDocument/2006/relationships/image" Target="../media/image63.png"/><Relationship Id="rId7" Type="http://schemas.openxmlformats.org/officeDocument/2006/relationships/image" Target="../media/image59.png"/><Relationship Id="rId8" Type="http://schemas.openxmlformats.org/officeDocument/2006/relationships/image" Target="../media/image5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.png"/><Relationship Id="rId4" Type="http://schemas.openxmlformats.org/officeDocument/2006/relationships/image" Target="../media/image44.png"/><Relationship Id="rId5" Type="http://schemas.openxmlformats.org/officeDocument/2006/relationships/image" Target="../media/image5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810339" y="2562225"/>
            <a:ext cx="10571321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112A46"/>
                </a:solidFill>
                <a:latin typeface="Poppins"/>
                <a:ea typeface="Poppins"/>
                <a:cs typeface="Poppins"/>
                <a:sym typeface="Poppins"/>
              </a:rPr>
              <a:t>Deconstructing Transformers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062037" y="3762375"/>
            <a:ext cx="100679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From Core Architecture to Full Lifecycle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 txBox="1"/>
          <p:nvPr/>
        </p:nvSpPr>
        <p:spPr>
          <a:xfrm>
            <a:off x="1809750" y="2566987"/>
            <a:ext cx="85725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Before Transformers, models (like RNNs &amp; LSTMs) processed text one word at a time.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2190750" y="3167062"/>
            <a:ext cx="8191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12A46"/>
                </a:solidFill>
                <a:latin typeface="Lato"/>
                <a:ea typeface="Lato"/>
                <a:cs typeface="Lato"/>
                <a:sym typeface="Lato"/>
              </a:rPr>
              <a:t>Sequential &amp; Slow: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This was very slow for long sentences. You couldn't process all words at once (no parallelism).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2190750" y="3929062"/>
            <a:ext cx="8191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12A46"/>
                </a:solidFill>
                <a:latin typeface="Lato"/>
                <a:ea typeface="Lato"/>
                <a:cs typeface="Lato"/>
                <a:sym typeface="Lato"/>
              </a:rPr>
              <a:t>The "Forgetting" Problem: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Models struggled to remember information from the *beginning* of a long sentence by the time they reached the *end*.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2190750" y="4691062"/>
            <a:ext cx="8191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12A46"/>
                </a:solidFill>
                <a:latin typeface="Lato"/>
                <a:ea typeface="Lato"/>
                <a:cs typeface="Lato"/>
                <a:sym typeface="Lato"/>
              </a:rPr>
              <a:t>Vanishing Gradients: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The "signal" or importance from early words would get weaker and weaker as it passed through each step, making it hard to train.</a:t>
            </a:r>
            <a:endParaRPr/>
          </a:p>
        </p:txBody>
      </p:sp>
      <p:pic>
        <p:nvPicPr>
          <p:cNvPr descr="image.png" id="96" name="Google Shape;9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3214687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3976687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9750" y="4738687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12A46"/>
                </a:solidFill>
                <a:latin typeface="Poppins"/>
                <a:ea typeface="Poppins"/>
                <a:cs typeface="Poppins"/>
                <a:sym typeface="Poppins"/>
              </a:rPr>
              <a:t>The Problem: What Transformers Solve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4" name="Google Shape;10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 txBox="1"/>
          <p:nvPr/>
        </p:nvSpPr>
        <p:spPr>
          <a:xfrm>
            <a:off x="2057400" y="2033885"/>
            <a:ext cx="8077200" cy="31998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112A46"/>
                </a:solidFill>
                <a:latin typeface="Poppins"/>
                <a:ea typeface="Poppins"/>
                <a:cs typeface="Poppins"/>
                <a:sym typeface="Poppins"/>
              </a:rPr>
              <a:t>Stop processing words one by one. Instead, look at all words in the sentence at the same time and decide which ones are most important.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4019550" y="5519439"/>
            <a:ext cx="41529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— The core idea of "Attention Is All You Need"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1581150" y="2319635"/>
            <a:ext cx="276225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0" u="none" cap="none" strike="noStrike">
                <a:solidFill>
                  <a:srgbClr val="D4A373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10334625" y="5138444"/>
            <a:ext cx="276225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0" u="none" cap="none" strike="noStrike">
                <a:solidFill>
                  <a:srgbClr val="D4A373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12A46"/>
                </a:solidFill>
                <a:latin typeface="Poppins"/>
                <a:ea typeface="Poppins"/>
                <a:cs typeface="Poppins"/>
                <a:sym typeface="Poppins"/>
              </a:rPr>
              <a:t>The Big Idea: Self-Attention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4" name="Google Shape;11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762125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6"/>
          <p:cNvSpPr txBox="1"/>
          <p:nvPr/>
        </p:nvSpPr>
        <p:spPr>
          <a:xfrm>
            <a:off x="571500" y="1762125"/>
            <a:ext cx="555069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12A46"/>
                </a:solidFill>
                <a:latin typeface="Poppins"/>
                <a:ea typeface="Poppins"/>
                <a:cs typeface="Poppins"/>
                <a:sym typeface="Poppins"/>
              </a:rPr>
              <a:t>Two Main Parts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571500" y="2333625"/>
            <a:ext cx="52863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Transformer is an </a:t>
            </a: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Encoder-Decoder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model. Think of it like a translator: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714375" y="3038475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809625" y="3038475"/>
            <a:ext cx="50482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1. The Encoder (Left):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Reads and "understands" the entire input sentence (e.g., English). Its job is to build a rich, contextual representation of every word.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714375" y="3952875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809625" y="3952875"/>
            <a:ext cx="50482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2. The Decoder (Right):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Takes the Encoder's "understanding" and generates the output sentence (e.g., French), one word at a time.</a:t>
            </a:r>
            <a:endParaRPr/>
          </a:p>
        </p:txBody>
      </p:sp>
      <p:pic>
        <p:nvPicPr>
          <p:cNvPr descr="image.png" id="122" name="Google Shape;12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771650"/>
            <a:ext cx="5267325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12A46"/>
                </a:solidFill>
                <a:latin typeface="Poppins"/>
                <a:ea typeface="Poppins"/>
                <a:cs typeface="Poppins"/>
                <a:sym typeface="Poppins"/>
              </a:rPr>
              <a:t>The High-Level Architecture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8" name="Google Shape;12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86000"/>
            <a:ext cx="5286375" cy="3238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286000"/>
            <a:ext cx="5286375" cy="3238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7"/>
          <p:cNvSpPr txBox="1"/>
          <p:nvPr/>
        </p:nvSpPr>
        <p:spPr>
          <a:xfrm>
            <a:off x="962025" y="2676525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A7CA5"/>
                </a:solidFill>
                <a:latin typeface="Poppins"/>
                <a:ea typeface="Poppins"/>
                <a:cs typeface="Poppins"/>
                <a:sym typeface="Poppins"/>
              </a:rPr>
              <a:t>1. Self-Attention Layer</a:t>
            </a:r>
            <a:endParaRPr/>
          </a:p>
        </p:txBody>
      </p:sp>
      <p:sp>
        <p:nvSpPr>
          <p:cNvPr id="132" name="Google Shape;132;p17"/>
          <p:cNvSpPr txBox="1"/>
          <p:nvPr/>
        </p:nvSpPr>
        <p:spPr>
          <a:xfrm>
            <a:off x="962025" y="3248025"/>
            <a:ext cx="45053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This is the magic. For every word, this layer lets it "look at" all other words in the *input* sentence.</a:t>
            </a:r>
            <a:endParaRPr/>
          </a:p>
        </p:txBody>
      </p:sp>
      <p:sp>
        <p:nvSpPr>
          <p:cNvPr id="133" name="Google Shape;133;p17"/>
          <p:cNvSpPr txBox="1"/>
          <p:nvPr/>
        </p:nvSpPr>
        <p:spPr>
          <a:xfrm>
            <a:off x="962025" y="3933825"/>
            <a:ext cx="4505325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It then decides which other words are most relevant to *this* word's meaning. For example, in "The animal didn't cross the street because **it** was too tired," this layer helps "it" know it refers to "animal".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6724650" y="2676525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A7CA5"/>
                </a:solidFill>
                <a:latin typeface="Poppins"/>
                <a:ea typeface="Poppins"/>
                <a:cs typeface="Poppins"/>
                <a:sym typeface="Poppins"/>
              </a:rPr>
              <a:t>2. Feed-Forward Network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6724650" y="3248025"/>
            <a:ext cx="45053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After the attention layer, the output for each word is passed through a simple, identical neural network.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6724650" y="3933825"/>
            <a:ext cx="4505325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This network processes each word's representation individually and adds more computational depth, helping the model learn more complex patterns from the attention output.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12A46"/>
                </a:solidFill>
                <a:latin typeface="Poppins"/>
                <a:ea typeface="Poppins"/>
                <a:cs typeface="Poppins"/>
                <a:sym typeface="Poppins"/>
              </a:rPr>
              <a:t>Inside the Encoder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2" name="Google Shape;14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24075"/>
            <a:ext cx="3429000" cy="3562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2124075"/>
            <a:ext cx="3429000" cy="3562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0" y="2124075"/>
            <a:ext cx="3429000" cy="356235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8"/>
          <p:cNvSpPr txBox="1"/>
          <p:nvPr/>
        </p:nvSpPr>
        <p:spPr>
          <a:xfrm>
            <a:off x="955833" y="3133725"/>
            <a:ext cx="266033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A7CA5"/>
                </a:solidFill>
                <a:latin typeface="Poppins"/>
                <a:ea typeface="Poppins"/>
                <a:cs typeface="Poppins"/>
                <a:sym typeface="Poppins"/>
              </a:rPr>
              <a:t>Masked Self-Attention</a:t>
            </a:r>
            <a:endParaRPr/>
          </a:p>
        </p:txBody>
      </p:sp>
      <p:sp>
        <p:nvSpPr>
          <p:cNvPr id="147" name="Google Shape;147;p18"/>
          <p:cNvSpPr txBox="1"/>
          <p:nvPr/>
        </p:nvSpPr>
        <p:spPr>
          <a:xfrm>
            <a:off x="866775" y="3762375"/>
            <a:ext cx="28384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This is like the Encoder's self-attention, but it's "masked." When generating word #3, it can only look at words #1 and #2. It's blocked from "cheating" by looking at future words.</a:t>
            </a:r>
            <a:endParaRPr/>
          </a:p>
        </p:txBody>
      </p:sp>
      <p:sp>
        <p:nvSpPr>
          <p:cNvPr id="148" name="Google Shape;148;p18"/>
          <p:cNvSpPr txBox="1"/>
          <p:nvPr/>
        </p:nvSpPr>
        <p:spPr>
          <a:xfrm>
            <a:off x="4605813" y="3133725"/>
            <a:ext cx="2980372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A7CA5"/>
                </a:solidFill>
                <a:latin typeface="Poppins"/>
                <a:ea typeface="Poppins"/>
                <a:cs typeface="Poppins"/>
                <a:sym typeface="Poppins"/>
              </a:rPr>
              <a:t>Encoder-Decoder Attention</a:t>
            </a:r>
            <a:endParaRPr/>
          </a:p>
        </p:txBody>
      </p:sp>
      <p:sp>
        <p:nvSpPr>
          <p:cNvPr id="149" name="Google Shape;149;p18"/>
          <p:cNvSpPr txBox="1"/>
          <p:nvPr/>
        </p:nvSpPr>
        <p:spPr>
          <a:xfrm>
            <a:off x="4676775" y="4095750"/>
            <a:ext cx="28384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This is the key! The Decoder "pays attention" to the Encoder's output. It looks at all the input words to decide which ones are most relevant for generating the *current* output word.</a:t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8545830" y="3133725"/>
            <a:ext cx="272034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A7CA5"/>
                </a:solidFill>
                <a:latin typeface="Poppins"/>
                <a:ea typeface="Poppins"/>
                <a:cs typeface="Poppins"/>
                <a:sym typeface="Poppins"/>
              </a:rPr>
              <a:t>Feed-Forward Network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8486775" y="3762375"/>
            <a:ext cx="28384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Just like in the Encoder, this is a simple neural network that processes the final representation after all the attention steps are done.</a:t>
            </a:r>
            <a:endParaRPr/>
          </a:p>
        </p:txBody>
      </p:sp>
      <p:pic>
        <p:nvPicPr>
          <p:cNvPr descr="image.png" id="152" name="Google Shape;152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00250" y="2438400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0" y="2438400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20250" y="2438400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12A46"/>
                </a:solidFill>
                <a:latin typeface="Poppins"/>
                <a:ea typeface="Poppins"/>
                <a:cs typeface="Poppins"/>
                <a:sym typeface="Poppins"/>
              </a:rPr>
              <a:t>Inside the Decoder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0" name="Google Shape;16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9"/>
          <p:cNvSpPr txBox="1"/>
          <p:nvPr/>
        </p:nvSpPr>
        <p:spPr>
          <a:xfrm>
            <a:off x="1809750" y="2543175"/>
            <a:ext cx="85725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Attention is calculated using three vectors for each word: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Query, Key, and Value.</a:t>
            </a:r>
            <a:endParaRPr/>
          </a:p>
        </p:txBody>
      </p:sp>
      <p:sp>
        <p:nvSpPr>
          <p:cNvPr id="162" name="Google Shape;162;p19"/>
          <p:cNvSpPr txBox="1"/>
          <p:nvPr/>
        </p:nvSpPr>
        <p:spPr>
          <a:xfrm>
            <a:off x="1809750" y="4953000"/>
            <a:ext cx="85725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model finds the best-matching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Key</a:t>
            </a: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for a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Query</a:t>
            </a: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then returns the corresponding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Value</a:t>
            </a: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163" name="Google Shape;163;p19"/>
          <p:cNvSpPr txBox="1"/>
          <p:nvPr/>
        </p:nvSpPr>
        <p:spPr>
          <a:xfrm>
            <a:off x="2190750" y="3143250"/>
            <a:ext cx="8191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12A46"/>
                </a:solidFill>
                <a:latin typeface="Lato"/>
                <a:ea typeface="Lato"/>
                <a:cs typeface="Lato"/>
                <a:sym typeface="Lato"/>
              </a:rPr>
              <a:t>Query (Q):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This is the word's "search query." It asks: "What am I looking for?"</a:t>
            </a:r>
            <a:endParaRPr/>
          </a:p>
        </p:txBody>
      </p:sp>
      <p:sp>
        <p:nvSpPr>
          <p:cNvPr id="164" name="Google Shape;164;p19"/>
          <p:cNvSpPr txBox="1"/>
          <p:nvPr/>
        </p:nvSpPr>
        <p:spPr>
          <a:xfrm>
            <a:off x="2190750" y="3619500"/>
            <a:ext cx="8191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12A46"/>
                </a:solidFill>
                <a:latin typeface="Lato"/>
                <a:ea typeface="Lato"/>
                <a:cs typeface="Lato"/>
                <a:sym typeface="Lato"/>
              </a:rPr>
              <a:t>Key (K):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This is the word's "label" or "ID." It says: "This is what I am." The Query is compared against all the Keys.</a:t>
            </a:r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2190750" y="4381500"/>
            <a:ext cx="8191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12A46"/>
                </a:solidFill>
                <a:latin typeface="Lato"/>
                <a:ea typeface="Lato"/>
                <a:cs typeface="Lato"/>
                <a:sym typeface="Lato"/>
              </a:rPr>
              <a:t>Value (V):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This is the word's actual "content" or "meaning."</a:t>
            </a:r>
            <a:endParaRPr/>
          </a:p>
        </p:txBody>
      </p:sp>
      <p:pic>
        <p:nvPicPr>
          <p:cNvPr descr="image.png" id="166" name="Google Shape;16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366712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4429125"/>
            <a:ext cx="1714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9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12A46"/>
                </a:solidFill>
                <a:latin typeface="Poppins"/>
                <a:ea typeface="Poppins"/>
                <a:cs typeface="Poppins"/>
                <a:sym typeface="Poppins"/>
              </a:rPr>
              <a:t>The Magic: How "Attention" Works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3" name="Google Shape;17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762125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0"/>
          <p:cNvSpPr txBox="1"/>
          <p:nvPr/>
        </p:nvSpPr>
        <p:spPr>
          <a:xfrm>
            <a:off x="571500" y="1762125"/>
            <a:ext cx="555069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12A46"/>
                </a:solidFill>
                <a:latin typeface="Poppins"/>
                <a:ea typeface="Poppins"/>
                <a:cs typeface="Poppins"/>
                <a:sym typeface="Poppins"/>
              </a:rPr>
              <a:t>Asking 8 Experts</a:t>
            </a:r>
            <a:endParaRPr/>
          </a:p>
        </p:txBody>
      </p:sp>
      <p:sp>
        <p:nvSpPr>
          <p:cNvPr id="176" name="Google Shape;176;p20"/>
          <p:cNvSpPr txBox="1"/>
          <p:nvPr/>
        </p:nvSpPr>
        <p:spPr>
          <a:xfrm>
            <a:off x="571500" y="2333625"/>
            <a:ext cx="52863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Instead of calculating attention just once, "Multi-Head" attention runs it multiple times in parallel (e.g., 8 "heads").</a:t>
            </a:r>
            <a:endParaRPr/>
          </a:p>
        </p:txBody>
      </p:sp>
      <p:sp>
        <p:nvSpPr>
          <p:cNvPr id="177" name="Google Shape;177;p20"/>
          <p:cNvSpPr txBox="1"/>
          <p:nvPr/>
        </p:nvSpPr>
        <p:spPr>
          <a:xfrm>
            <a:off x="571500" y="3019425"/>
            <a:ext cx="52863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It's like asking 8 different experts to look at the sentence:</a:t>
            </a:r>
            <a:endParaRPr/>
          </a:p>
        </p:txBody>
      </p:sp>
      <p:sp>
        <p:nvSpPr>
          <p:cNvPr id="178" name="Google Shape;178;p20"/>
          <p:cNvSpPr txBox="1"/>
          <p:nvPr/>
        </p:nvSpPr>
        <p:spPr>
          <a:xfrm>
            <a:off x="571500" y="4695825"/>
            <a:ext cx="52863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This gives a much richer, more nuanced understanding of the sentence.</a:t>
            </a:r>
            <a:endParaRPr/>
          </a:p>
        </p:txBody>
      </p:sp>
      <p:sp>
        <p:nvSpPr>
          <p:cNvPr id="179" name="Google Shape;179;p20"/>
          <p:cNvSpPr txBox="1"/>
          <p:nvPr/>
        </p:nvSpPr>
        <p:spPr>
          <a:xfrm>
            <a:off x="714375" y="3467100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80" name="Google Shape;180;p20"/>
          <p:cNvSpPr txBox="1"/>
          <p:nvPr/>
        </p:nvSpPr>
        <p:spPr>
          <a:xfrm>
            <a:off x="809625" y="3467100"/>
            <a:ext cx="5048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One "head" might focus on "who did what."</a:t>
            </a:r>
            <a:endParaRPr/>
          </a:p>
        </p:txBody>
      </p:sp>
      <p:sp>
        <p:nvSpPr>
          <p:cNvPr id="181" name="Google Shape;181;p20"/>
          <p:cNvSpPr txBox="1"/>
          <p:nvPr/>
        </p:nvSpPr>
        <p:spPr>
          <a:xfrm>
            <a:off x="714375" y="3867150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82" name="Google Shape;182;p20"/>
          <p:cNvSpPr txBox="1"/>
          <p:nvPr/>
        </p:nvSpPr>
        <p:spPr>
          <a:xfrm>
            <a:off x="809625" y="3867150"/>
            <a:ext cx="5048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Another might focus on "what action was taken."</a:t>
            </a:r>
            <a:endParaRPr/>
          </a:p>
        </p:txBody>
      </p:sp>
      <p:sp>
        <p:nvSpPr>
          <p:cNvPr id="183" name="Google Shape;183;p20"/>
          <p:cNvSpPr txBox="1"/>
          <p:nvPr/>
        </p:nvSpPr>
        <p:spPr>
          <a:xfrm>
            <a:off x="714375" y="4267200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84" name="Google Shape;184;p20"/>
          <p:cNvSpPr txBox="1"/>
          <p:nvPr/>
        </p:nvSpPr>
        <p:spPr>
          <a:xfrm>
            <a:off x="809625" y="4267200"/>
            <a:ext cx="5048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Another might focus on grammatical relationships.</a:t>
            </a:r>
            <a:endParaRPr/>
          </a:p>
        </p:txBody>
      </p:sp>
      <p:pic>
        <p:nvPicPr>
          <p:cNvPr descr="image.png" id="185" name="Google Shape;185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771650"/>
            <a:ext cx="5267325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0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12A46"/>
                </a:solidFill>
                <a:latin typeface="Poppins"/>
                <a:ea typeface="Poppins"/>
                <a:cs typeface="Poppins"/>
                <a:sym typeface="Poppins"/>
              </a:rPr>
              <a:t>What is "Multi-Head" Attention?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1" name="Google Shape;19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57412"/>
            <a:ext cx="5286375" cy="3495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157412"/>
            <a:ext cx="5286375" cy="3495675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1"/>
          <p:cNvSpPr txBox="1"/>
          <p:nvPr/>
        </p:nvSpPr>
        <p:spPr>
          <a:xfrm>
            <a:off x="962025" y="2547937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A7CA5"/>
                </a:solidFill>
                <a:latin typeface="Poppins"/>
                <a:ea typeface="Poppins"/>
                <a:cs typeface="Poppins"/>
                <a:sym typeface="Poppins"/>
              </a:rPr>
              <a:t>Positional Encodings</a:t>
            </a:r>
            <a:endParaRPr/>
          </a:p>
        </p:txBody>
      </p:sp>
      <p:sp>
        <p:nvSpPr>
          <p:cNvPr id="195" name="Google Shape;195;p21"/>
          <p:cNvSpPr txBox="1"/>
          <p:nvPr/>
        </p:nvSpPr>
        <p:spPr>
          <a:xfrm>
            <a:off x="962025" y="3119437"/>
            <a:ext cx="4505325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Problem: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Since the model sees all words at once (unlike an RNN), it has no idea what their *order* is. "Man bites dog" and "Dog bites man" would look the same.</a:t>
            </a:r>
            <a:endParaRPr/>
          </a:p>
        </p:txBody>
      </p:sp>
      <p:sp>
        <p:nvSpPr>
          <p:cNvPr id="196" name="Google Shape;196;p21"/>
          <p:cNvSpPr txBox="1"/>
          <p:nvPr/>
        </p:nvSpPr>
        <p:spPr>
          <a:xfrm>
            <a:off x="962025" y="4062412"/>
            <a:ext cx="4505325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Solution: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We add a "vector" (a list of numbers) to each word that gives it a unique "ZIP code" based on its position (e.g., 1st word, 2nd word, 3rd...). This injects the word's position into its meaning.</a:t>
            </a:r>
            <a:endParaRPr/>
          </a:p>
        </p:txBody>
      </p:sp>
      <p:sp>
        <p:nvSpPr>
          <p:cNvPr id="197" name="Google Shape;197;p21"/>
          <p:cNvSpPr txBox="1"/>
          <p:nvPr/>
        </p:nvSpPr>
        <p:spPr>
          <a:xfrm>
            <a:off x="6724650" y="2547937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A7CA5"/>
                </a:solidFill>
                <a:latin typeface="Poppins"/>
                <a:ea typeface="Poppins"/>
                <a:cs typeface="Poppins"/>
                <a:sym typeface="Poppins"/>
              </a:rPr>
              <a:t>Layer Normalization ("Norms")</a:t>
            </a:r>
            <a:endParaRPr/>
          </a:p>
        </p:txBody>
      </p:sp>
      <p:sp>
        <p:nvSpPr>
          <p:cNvPr id="198" name="Google Shape;198;p21"/>
          <p:cNvSpPr txBox="1"/>
          <p:nvPr/>
        </p:nvSpPr>
        <p:spPr>
          <a:xfrm>
            <a:off x="6724650" y="3119437"/>
            <a:ext cx="4505325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Problem: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As data flows through many layers (like attention and feed-forward), the numbers (vectors) can become too large or small, making training unstable and slow.</a:t>
            </a:r>
            <a:endParaRPr/>
          </a:p>
        </p:txBody>
      </p:sp>
      <p:sp>
        <p:nvSpPr>
          <p:cNvPr id="199" name="Google Shape;199;p21"/>
          <p:cNvSpPr txBox="1"/>
          <p:nvPr/>
        </p:nvSpPr>
        <p:spPr>
          <a:xfrm>
            <a:off x="6724650" y="4062412"/>
            <a:ext cx="4505325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Solution: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After each sub-layer, we "normalize" the numbers. This "resets" the data's scale (mean=0, variance=1) and helps the model train much faster and more reliably.</a:t>
            </a:r>
            <a:endParaRPr/>
          </a:p>
        </p:txBody>
      </p:sp>
      <p:sp>
        <p:nvSpPr>
          <p:cNvPr id="200" name="Google Shape;200;p21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12A46"/>
                </a:solidFill>
                <a:latin typeface="Poppins"/>
                <a:ea typeface="Poppins"/>
                <a:cs typeface="Poppins"/>
                <a:sym typeface="Poppins"/>
              </a:rPr>
              <a:t>Explaining Key Terminology (Part 1)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5" name="Google Shape;20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2"/>
          <p:cNvSpPr txBox="1"/>
          <p:nvPr/>
        </p:nvSpPr>
        <p:spPr>
          <a:xfrm>
            <a:off x="1809750" y="2805112"/>
            <a:ext cx="85725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You will always see "Add &amp; Norm" after each sub-layer. Here's what it means:</a:t>
            </a:r>
            <a:endParaRPr/>
          </a:p>
        </p:txBody>
      </p:sp>
      <p:sp>
        <p:nvSpPr>
          <p:cNvPr id="207" name="Google Shape;207;p22"/>
          <p:cNvSpPr txBox="1"/>
          <p:nvPr/>
        </p:nvSpPr>
        <p:spPr>
          <a:xfrm>
            <a:off x="2190750" y="3405187"/>
            <a:ext cx="81915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12A46"/>
                </a:solidFill>
                <a:latin typeface="Lato"/>
                <a:ea typeface="Lato"/>
                <a:cs typeface="Lato"/>
                <a:sym typeface="Lato"/>
              </a:rPr>
              <a:t>"Add" (Residual Connection):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We take the *original input* to the layer and add it to the *output* of the layer. This "shortcut" prevents the model from "forgetting" the original information and makes it easier to train very deep networks.</a:t>
            </a:r>
            <a:endParaRPr/>
          </a:p>
        </p:txBody>
      </p:sp>
      <p:sp>
        <p:nvSpPr>
          <p:cNvPr id="208" name="Google Shape;208;p22"/>
          <p:cNvSpPr txBox="1"/>
          <p:nvPr/>
        </p:nvSpPr>
        <p:spPr>
          <a:xfrm>
            <a:off x="2190750" y="4452937"/>
            <a:ext cx="8191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12A46"/>
                </a:solidFill>
                <a:latin typeface="Lato"/>
                <a:ea typeface="Lato"/>
                <a:cs typeface="Lato"/>
                <a:sym typeface="Lato"/>
              </a:rPr>
              <a:t>"Norm" (Layer Normalization):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This is the step we just discussed. It's applied *after* the "Add" step to re-stabilize the data before it goes to the next layer.</a:t>
            </a:r>
            <a:endParaRPr/>
          </a:p>
        </p:txBody>
      </p:sp>
      <p:pic>
        <p:nvPicPr>
          <p:cNvPr descr="image.png" id="209" name="Google Shape;20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3452812"/>
            <a:ext cx="2095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4500562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2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12A46"/>
                </a:solidFill>
                <a:latin typeface="Poppins"/>
                <a:ea typeface="Poppins"/>
                <a:cs typeface="Poppins"/>
                <a:sym typeface="Poppins"/>
              </a:rPr>
              <a:t>Explaining Key Terminology (Part 2)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6" name="Google Shape;21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05062"/>
            <a:ext cx="3429000" cy="3000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2405062"/>
            <a:ext cx="3429000" cy="3000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0" y="2405062"/>
            <a:ext cx="3429000" cy="3000375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3"/>
          <p:cNvSpPr txBox="1"/>
          <p:nvPr/>
        </p:nvSpPr>
        <p:spPr>
          <a:xfrm>
            <a:off x="1630918" y="3414712"/>
            <a:ext cx="131016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A7CA5"/>
                </a:solidFill>
                <a:latin typeface="Poppins"/>
                <a:ea typeface="Poppins"/>
                <a:cs typeface="Poppins"/>
                <a:sym typeface="Poppins"/>
              </a:rPr>
              <a:t>Parallelism</a:t>
            </a:r>
            <a:endParaRPr/>
          </a:p>
        </p:txBody>
      </p:sp>
      <p:sp>
        <p:nvSpPr>
          <p:cNvPr id="221" name="Google Shape;221;p23"/>
          <p:cNvSpPr txBox="1"/>
          <p:nvPr/>
        </p:nvSpPr>
        <p:spPr>
          <a:xfrm>
            <a:off x="866775" y="4043362"/>
            <a:ext cx="28384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Unlike RNNs, all input words are processed at once. This makes it *massively* faster to train on modern hardware like GPUs.</a:t>
            </a:r>
            <a:endParaRPr/>
          </a:p>
        </p:txBody>
      </p:sp>
      <p:sp>
        <p:nvSpPr>
          <p:cNvPr id="222" name="Google Shape;222;p23"/>
          <p:cNvSpPr txBox="1"/>
          <p:nvPr/>
        </p:nvSpPr>
        <p:spPr>
          <a:xfrm>
            <a:off x="5485923" y="3414712"/>
            <a:ext cx="122015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A7CA5"/>
                </a:solidFill>
                <a:latin typeface="Poppins"/>
                <a:ea typeface="Poppins"/>
                <a:cs typeface="Poppins"/>
                <a:sym typeface="Poppins"/>
              </a:rPr>
              <a:t>Scalability</a:t>
            </a:r>
            <a:endParaRPr/>
          </a:p>
        </p:txBody>
      </p:sp>
      <p:sp>
        <p:nvSpPr>
          <p:cNvPr id="223" name="Google Shape;223;p23"/>
          <p:cNvSpPr txBox="1"/>
          <p:nvPr/>
        </p:nvSpPr>
        <p:spPr>
          <a:xfrm>
            <a:off x="4676775" y="4043362"/>
            <a:ext cx="28384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design is highly scalable. We can stack more layers and add more data to create *massive* models (like BERT, GPT, and LLMs).</a:t>
            </a:r>
            <a:endParaRPr/>
          </a:p>
        </p:txBody>
      </p:sp>
      <p:sp>
        <p:nvSpPr>
          <p:cNvPr id="224" name="Google Shape;224;p23"/>
          <p:cNvSpPr txBox="1"/>
          <p:nvPr/>
        </p:nvSpPr>
        <p:spPr>
          <a:xfrm>
            <a:off x="8720851" y="3414712"/>
            <a:ext cx="2370296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A7CA5"/>
                </a:solidFill>
                <a:latin typeface="Poppins"/>
                <a:ea typeface="Poppins"/>
                <a:cs typeface="Poppins"/>
                <a:sym typeface="Poppins"/>
              </a:rPr>
              <a:t>Better Performance</a:t>
            </a:r>
            <a:endParaRPr/>
          </a:p>
        </p:txBody>
      </p:sp>
      <p:sp>
        <p:nvSpPr>
          <p:cNvPr id="225" name="Google Shape;225;p23"/>
          <p:cNvSpPr txBox="1"/>
          <p:nvPr/>
        </p:nvSpPr>
        <p:spPr>
          <a:xfrm>
            <a:off x="8486775" y="4043362"/>
            <a:ext cx="28384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Self-attention is more effective at capturing long-range dependencies, leading to new state-of-the-art results in almost every NLP task.</a:t>
            </a:r>
            <a:endParaRPr/>
          </a:p>
        </p:txBody>
      </p:sp>
      <p:pic>
        <p:nvPicPr>
          <p:cNvPr descr="image.png" id="226" name="Google Shape;226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57400" y="271938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0" y="2719387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3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12A46"/>
                </a:solidFill>
                <a:latin typeface="Poppins"/>
                <a:ea typeface="Poppins"/>
                <a:cs typeface="Poppins"/>
                <a:sym typeface="Poppins"/>
              </a:rPr>
              <a:t>Why Transformers Won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3" name="Google Shape;23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4"/>
          <p:cNvSpPr/>
          <p:nvPr/>
        </p:nvSpPr>
        <p:spPr>
          <a:xfrm>
            <a:off x="5619750" y="2514600"/>
            <a:ext cx="952500" cy="47625"/>
          </a:xfrm>
          <a:prstGeom prst="rect">
            <a:avLst/>
          </a:prstGeom>
          <a:solidFill>
            <a:srgbClr val="3A7CA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4"/>
          <p:cNvSpPr txBox="1"/>
          <p:nvPr/>
        </p:nvSpPr>
        <p:spPr>
          <a:xfrm>
            <a:off x="3320653" y="2847975"/>
            <a:ext cx="5550693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112A46"/>
                </a:solidFill>
                <a:latin typeface="Poppins"/>
                <a:ea typeface="Poppins"/>
                <a:cs typeface="Poppins"/>
                <a:sym typeface="Poppins"/>
              </a:rPr>
              <a:t>Beyond the Model</a:t>
            </a:r>
            <a:endParaRPr/>
          </a:p>
        </p:txBody>
      </p:sp>
      <p:sp>
        <p:nvSpPr>
          <p:cNvPr id="236" name="Google Shape;236;p24"/>
          <p:cNvSpPr txBox="1"/>
          <p:nvPr/>
        </p:nvSpPr>
        <p:spPr>
          <a:xfrm>
            <a:off x="3895725" y="4105275"/>
            <a:ext cx="44005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Full Lifecycle of a Deployed Language Model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1" name="Google Shape;24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5"/>
          <p:cNvSpPr/>
          <p:nvPr/>
        </p:nvSpPr>
        <p:spPr>
          <a:xfrm>
            <a:off x="571500" y="3886200"/>
            <a:ext cx="11049000" cy="38100"/>
          </a:xfrm>
          <a:prstGeom prst="roundRect">
            <a:avLst>
              <a:gd fmla="val 16667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5"/>
          <p:cNvSpPr txBox="1"/>
          <p:nvPr/>
        </p:nvSpPr>
        <p:spPr>
          <a:xfrm>
            <a:off x="519019" y="4143375"/>
            <a:ext cx="220418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A7CA5"/>
                </a:solidFill>
                <a:latin typeface="Poppins"/>
                <a:ea typeface="Poppins"/>
                <a:cs typeface="Poppins"/>
                <a:sym typeface="Poppins"/>
              </a:rPr>
              <a:t>1. Data Collection</a:t>
            </a:r>
            <a:endParaRPr/>
          </a:p>
        </p:txBody>
      </p:sp>
      <p:sp>
        <p:nvSpPr>
          <p:cNvPr id="244" name="Google Shape;244;p25"/>
          <p:cNvSpPr txBox="1"/>
          <p:nvPr/>
        </p:nvSpPr>
        <p:spPr>
          <a:xfrm>
            <a:off x="571500" y="4629150"/>
            <a:ext cx="20992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Gathering raw text data.</a:t>
            </a:r>
            <a:endParaRPr/>
          </a:p>
        </p:txBody>
      </p:sp>
      <p:sp>
        <p:nvSpPr>
          <p:cNvPr id="245" name="Google Shape;245;p25"/>
          <p:cNvSpPr txBox="1"/>
          <p:nvPr/>
        </p:nvSpPr>
        <p:spPr>
          <a:xfrm>
            <a:off x="2756352" y="2238375"/>
            <a:ext cx="2204181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A7CA5"/>
                </a:solidFill>
                <a:latin typeface="Poppins"/>
                <a:ea typeface="Poppins"/>
                <a:cs typeface="Poppins"/>
                <a:sym typeface="Poppins"/>
              </a:rPr>
              <a:t>2. Data Preparation</a:t>
            </a:r>
            <a:endParaRPr/>
          </a:p>
        </p:txBody>
      </p:sp>
      <p:sp>
        <p:nvSpPr>
          <p:cNvPr id="246" name="Google Shape;246;p25"/>
          <p:cNvSpPr txBox="1"/>
          <p:nvPr/>
        </p:nvSpPr>
        <p:spPr>
          <a:xfrm>
            <a:off x="2808833" y="3057525"/>
            <a:ext cx="20992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Cleaning, tokenizing, and filtering.</a:t>
            </a:r>
            <a:endParaRPr/>
          </a:p>
        </p:txBody>
      </p:sp>
      <p:sp>
        <p:nvSpPr>
          <p:cNvPr id="247" name="Google Shape;247;p25"/>
          <p:cNvSpPr txBox="1"/>
          <p:nvPr/>
        </p:nvSpPr>
        <p:spPr>
          <a:xfrm>
            <a:off x="4993685" y="4143375"/>
            <a:ext cx="220418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A7CA5"/>
                </a:solidFill>
                <a:latin typeface="Poppins"/>
                <a:ea typeface="Poppins"/>
                <a:cs typeface="Poppins"/>
                <a:sym typeface="Poppins"/>
              </a:rPr>
              <a:t>3. Model Training</a:t>
            </a:r>
            <a:endParaRPr/>
          </a:p>
        </p:txBody>
      </p:sp>
      <p:sp>
        <p:nvSpPr>
          <p:cNvPr id="248" name="Google Shape;248;p25"/>
          <p:cNvSpPr txBox="1"/>
          <p:nvPr/>
        </p:nvSpPr>
        <p:spPr>
          <a:xfrm>
            <a:off x="5046166" y="4629150"/>
            <a:ext cx="20992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Pre-training &amp; Fine-tuning (SFT/RLHF).</a:t>
            </a:r>
            <a:endParaRPr/>
          </a:p>
        </p:txBody>
      </p:sp>
      <p:sp>
        <p:nvSpPr>
          <p:cNvPr id="249" name="Google Shape;249;p25"/>
          <p:cNvSpPr txBox="1"/>
          <p:nvPr/>
        </p:nvSpPr>
        <p:spPr>
          <a:xfrm>
            <a:off x="7231019" y="2800350"/>
            <a:ext cx="220418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A7CA5"/>
                </a:solidFill>
                <a:latin typeface="Poppins"/>
                <a:ea typeface="Poppins"/>
                <a:cs typeface="Poppins"/>
                <a:sym typeface="Poppins"/>
              </a:rPr>
              <a:t>4. Deployment</a:t>
            </a:r>
            <a:endParaRPr/>
          </a:p>
        </p:txBody>
      </p:sp>
      <p:sp>
        <p:nvSpPr>
          <p:cNvPr id="250" name="Google Shape;250;p25"/>
          <p:cNvSpPr txBox="1"/>
          <p:nvPr/>
        </p:nvSpPr>
        <p:spPr>
          <a:xfrm>
            <a:off x="7283499" y="3286125"/>
            <a:ext cx="20992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Serving the model via an API.</a:t>
            </a:r>
            <a:endParaRPr/>
          </a:p>
        </p:txBody>
      </p:sp>
      <p:sp>
        <p:nvSpPr>
          <p:cNvPr id="251" name="Google Shape;251;p25"/>
          <p:cNvSpPr txBox="1"/>
          <p:nvPr/>
        </p:nvSpPr>
        <p:spPr>
          <a:xfrm>
            <a:off x="9468352" y="4143375"/>
            <a:ext cx="220418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A7CA5"/>
                </a:solidFill>
                <a:latin typeface="Poppins"/>
                <a:ea typeface="Poppins"/>
                <a:cs typeface="Poppins"/>
                <a:sym typeface="Poppins"/>
              </a:rPr>
              <a:t>5. Monitoring</a:t>
            </a:r>
            <a:endParaRPr/>
          </a:p>
        </p:txBody>
      </p:sp>
      <p:sp>
        <p:nvSpPr>
          <p:cNvPr id="252" name="Google Shape;252;p25"/>
          <p:cNvSpPr txBox="1"/>
          <p:nvPr/>
        </p:nvSpPr>
        <p:spPr>
          <a:xfrm>
            <a:off x="9520832" y="4629150"/>
            <a:ext cx="20992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Watching for drift and new patterns.</a:t>
            </a:r>
            <a:endParaRPr/>
          </a:p>
        </p:txBody>
      </p:sp>
      <p:sp>
        <p:nvSpPr>
          <p:cNvPr id="253" name="Google Shape;253;p25"/>
          <p:cNvSpPr/>
          <p:nvPr/>
        </p:nvSpPr>
        <p:spPr>
          <a:xfrm>
            <a:off x="1525860" y="381000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3A7C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5"/>
          <p:cNvSpPr/>
          <p:nvPr/>
        </p:nvSpPr>
        <p:spPr>
          <a:xfrm>
            <a:off x="3763193" y="381000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3A7C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5"/>
          <p:cNvSpPr/>
          <p:nvPr/>
        </p:nvSpPr>
        <p:spPr>
          <a:xfrm>
            <a:off x="6000526" y="381000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3A7C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5"/>
          <p:cNvSpPr/>
          <p:nvPr/>
        </p:nvSpPr>
        <p:spPr>
          <a:xfrm>
            <a:off x="8237859" y="381000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3A7C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5"/>
          <p:cNvSpPr/>
          <p:nvPr/>
        </p:nvSpPr>
        <p:spPr>
          <a:xfrm>
            <a:off x="10475193" y="381000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3A7C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5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12A46"/>
                </a:solidFill>
                <a:latin typeface="Poppins"/>
                <a:ea typeface="Poppins"/>
                <a:cs typeface="Poppins"/>
                <a:sym typeface="Poppins"/>
              </a:rPr>
              <a:t>The ML Model Lifecycle: A High-Level View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3" name="Google Shape;26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4" name="Google Shape;264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28825"/>
            <a:ext cx="5286375" cy="3752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5" name="Google Shape;265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028825"/>
            <a:ext cx="5286375" cy="375285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6"/>
          <p:cNvSpPr txBox="1"/>
          <p:nvPr/>
        </p:nvSpPr>
        <p:spPr>
          <a:xfrm>
            <a:off x="962025" y="2419350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A7CA5"/>
                </a:solidFill>
                <a:latin typeface="Poppins"/>
                <a:ea typeface="Poppins"/>
                <a:cs typeface="Poppins"/>
                <a:sym typeface="Poppins"/>
              </a:rPr>
              <a:t>Data Collection</a:t>
            </a:r>
            <a:endParaRPr/>
          </a:p>
        </p:txBody>
      </p:sp>
      <p:sp>
        <p:nvSpPr>
          <p:cNvPr id="267" name="Google Shape;267;p26"/>
          <p:cNvSpPr txBox="1"/>
          <p:nvPr/>
        </p:nvSpPr>
        <p:spPr>
          <a:xfrm>
            <a:off x="962025" y="2990850"/>
            <a:ext cx="45053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model's "knowledge" comes from its data. We source text from:</a:t>
            </a:r>
            <a:endParaRPr/>
          </a:p>
        </p:txBody>
      </p:sp>
      <p:sp>
        <p:nvSpPr>
          <p:cNvPr id="268" name="Google Shape;268;p26"/>
          <p:cNvSpPr txBox="1"/>
          <p:nvPr/>
        </p:nvSpPr>
        <p:spPr>
          <a:xfrm>
            <a:off x="6724650" y="2419350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A7CA5"/>
                </a:solidFill>
                <a:latin typeface="Poppins"/>
                <a:ea typeface="Poppins"/>
                <a:cs typeface="Poppins"/>
                <a:sym typeface="Poppins"/>
              </a:rPr>
              <a:t>Data Preparation</a:t>
            </a:r>
            <a:endParaRPr/>
          </a:p>
        </p:txBody>
      </p:sp>
      <p:sp>
        <p:nvSpPr>
          <p:cNvPr id="269" name="Google Shape;269;p26"/>
          <p:cNvSpPr txBox="1"/>
          <p:nvPr/>
        </p:nvSpPr>
        <p:spPr>
          <a:xfrm>
            <a:off x="6724650" y="2990850"/>
            <a:ext cx="45053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Raw data is messy. This is the most time-consuming step:</a:t>
            </a:r>
            <a:endParaRPr/>
          </a:p>
        </p:txBody>
      </p:sp>
      <p:sp>
        <p:nvSpPr>
          <p:cNvPr id="270" name="Google Shape;270;p26"/>
          <p:cNvSpPr txBox="1"/>
          <p:nvPr/>
        </p:nvSpPr>
        <p:spPr>
          <a:xfrm>
            <a:off x="1104900" y="3676650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71" name="Google Shape;271;p26"/>
          <p:cNvSpPr txBox="1"/>
          <p:nvPr/>
        </p:nvSpPr>
        <p:spPr>
          <a:xfrm>
            <a:off x="1200150" y="3676650"/>
            <a:ext cx="42672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open internet (e.g., Common Crawl)</a:t>
            </a:r>
            <a:endParaRPr/>
          </a:p>
        </p:txBody>
      </p:sp>
      <p:sp>
        <p:nvSpPr>
          <p:cNvPr id="272" name="Google Shape;272;p26"/>
          <p:cNvSpPr txBox="1"/>
          <p:nvPr/>
        </p:nvSpPr>
        <p:spPr>
          <a:xfrm>
            <a:off x="1104900" y="4076700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73" name="Google Shape;273;p26"/>
          <p:cNvSpPr txBox="1"/>
          <p:nvPr/>
        </p:nvSpPr>
        <p:spPr>
          <a:xfrm>
            <a:off x="1200150" y="4076700"/>
            <a:ext cx="42672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Books and academic papers</a:t>
            </a:r>
            <a:endParaRPr/>
          </a:p>
        </p:txBody>
      </p:sp>
      <p:sp>
        <p:nvSpPr>
          <p:cNvPr id="274" name="Google Shape;274;p26"/>
          <p:cNvSpPr txBox="1"/>
          <p:nvPr/>
        </p:nvSpPr>
        <p:spPr>
          <a:xfrm>
            <a:off x="1104900" y="4476750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75" name="Google Shape;275;p26"/>
          <p:cNvSpPr txBox="1"/>
          <p:nvPr/>
        </p:nvSpPr>
        <p:spPr>
          <a:xfrm>
            <a:off x="1200150" y="4476750"/>
            <a:ext cx="42672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Code repositories (like GitHub)</a:t>
            </a:r>
            <a:endParaRPr/>
          </a:p>
        </p:txBody>
      </p:sp>
      <p:sp>
        <p:nvSpPr>
          <p:cNvPr id="276" name="Google Shape;276;p26"/>
          <p:cNvSpPr txBox="1"/>
          <p:nvPr/>
        </p:nvSpPr>
        <p:spPr>
          <a:xfrm>
            <a:off x="1104900" y="4876800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77" name="Google Shape;277;p26"/>
          <p:cNvSpPr txBox="1"/>
          <p:nvPr/>
        </p:nvSpPr>
        <p:spPr>
          <a:xfrm>
            <a:off x="1200150" y="4876800"/>
            <a:ext cx="42672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High-quality curated datasets</a:t>
            </a:r>
            <a:endParaRPr/>
          </a:p>
        </p:txBody>
      </p:sp>
      <p:sp>
        <p:nvSpPr>
          <p:cNvPr id="278" name="Google Shape;278;p26"/>
          <p:cNvSpPr txBox="1"/>
          <p:nvPr/>
        </p:nvSpPr>
        <p:spPr>
          <a:xfrm>
            <a:off x="6867525" y="3419475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79" name="Google Shape;279;p26"/>
          <p:cNvSpPr txBox="1"/>
          <p:nvPr/>
        </p:nvSpPr>
        <p:spPr>
          <a:xfrm>
            <a:off x="6962775" y="3419475"/>
            <a:ext cx="42672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Cleaning: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Removing duplicates, spam, and low-quality text.</a:t>
            </a:r>
            <a:endParaRPr/>
          </a:p>
        </p:txBody>
      </p:sp>
      <p:sp>
        <p:nvSpPr>
          <p:cNvPr id="280" name="Google Shape;280;p26"/>
          <p:cNvSpPr txBox="1"/>
          <p:nvPr/>
        </p:nvSpPr>
        <p:spPr>
          <a:xfrm>
            <a:off x="6867525" y="4076700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81" name="Google Shape;281;p26"/>
          <p:cNvSpPr txBox="1"/>
          <p:nvPr/>
        </p:nvSpPr>
        <p:spPr>
          <a:xfrm>
            <a:off x="6962775" y="4076700"/>
            <a:ext cx="42672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Tokenization: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Splitting text into "tokens" (words or sub-words).</a:t>
            </a:r>
            <a:endParaRPr/>
          </a:p>
        </p:txBody>
      </p:sp>
      <p:sp>
        <p:nvSpPr>
          <p:cNvPr id="282" name="Google Shape;282;p26"/>
          <p:cNvSpPr txBox="1"/>
          <p:nvPr/>
        </p:nvSpPr>
        <p:spPr>
          <a:xfrm>
            <a:off x="6867525" y="4733925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83" name="Google Shape;283;p26"/>
          <p:cNvSpPr txBox="1"/>
          <p:nvPr/>
        </p:nvSpPr>
        <p:spPr>
          <a:xfrm>
            <a:off x="6962775" y="4733925"/>
            <a:ext cx="42672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Filtering: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Removing toxic content or private information (PII).</a:t>
            </a:r>
            <a:endParaRPr/>
          </a:p>
        </p:txBody>
      </p:sp>
      <p:sp>
        <p:nvSpPr>
          <p:cNvPr id="284" name="Google Shape;284;p26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12A46"/>
                </a:solidFill>
                <a:latin typeface="Poppins"/>
                <a:ea typeface="Poppins"/>
                <a:cs typeface="Poppins"/>
                <a:sym typeface="Poppins"/>
              </a:rPr>
              <a:t>Phase 1: Data Collection &amp; Preparation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9" name="Google Shape;28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7"/>
          <p:cNvSpPr txBox="1"/>
          <p:nvPr/>
        </p:nvSpPr>
        <p:spPr>
          <a:xfrm>
            <a:off x="1809750" y="2185987"/>
            <a:ext cx="85725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 set of rules to ensure data is secure, accurate, and ethical.</a:t>
            </a:r>
            <a:endParaRPr/>
          </a:p>
        </p:txBody>
      </p:sp>
      <p:sp>
        <p:nvSpPr>
          <p:cNvPr id="291" name="Google Shape;291;p27"/>
          <p:cNvSpPr txBox="1"/>
          <p:nvPr/>
        </p:nvSpPr>
        <p:spPr>
          <a:xfrm>
            <a:off x="2190750" y="2786062"/>
            <a:ext cx="8191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12A46"/>
                </a:solidFill>
                <a:latin typeface="Lato"/>
                <a:ea typeface="Lato"/>
                <a:cs typeface="Lato"/>
                <a:sym typeface="Lato"/>
              </a:rPr>
              <a:t>Data Security &amp; Privacy: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Anonymizing or removing all Personally Identifiable Information (PII) like names, emails, and phone numbers.</a:t>
            </a:r>
            <a:endParaRPr/>
          </a:p>
        </p:txBody>
      </p:sp>
      <p:sp>
        <p:nvSpPr>
          <p:cNvPr id="292" name="Google Shape;292;p27"/>
          <p:cNvSpPr txBox="1"/>
          <p:nvPr/>
        </p:nvSpPr>
        <p:spPr>
          <a:xfrm>
            <a:off x="2190750" y="3548062"/>
            <a:ext cx="8191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12A46"/>
                </a:solidFill>
                <a:latin typeface="Lato"/>
                <a:ea typeface="Lato"/>
                <a:cs typeface="Lato"/>
                <a:sym typeface="Lato"/>
              </a:rPr>
              <a:t>Data Quality: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Ensuring the data is accurate, consistent, and not full of junk. Bad data leads to a bad model.</a:t>
            </a:r>
            <a:endParaRPr/>
          </a:p>
        </p:txBody>
      </p:sp>
      <p:sp>
        <p:nvSpPr>
          <p:cNvPr id="293" name="Google Shape;293;p27"/>
          <p:cNvSpPr txBox="1"/>
          <p:nvPr/>
        </p:nvSpPr>
        <p:spPr>
          <a:xfrm>
            <a:off x="2190750" y="4310062"/>
            <a:ext cx="8191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12A46"/>
                </a:solidFill>
                <a:latin typeface="Lato"/>
                <a:ea typeface="Lato"/>
                <a:cs typeface="Lato"/>
                <a:sym typeface="Lato"/>
              </a:rPr>
              <a:t>Compliance: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Adhering to laws like GDPR (Europe) or CCPA (California) that give users rights over their data.</a:t>
            </a:r>
            <a:endParaRPr/>
          </a:p>
        </p:txBody>
      </p:sp>
      <p:sp>
        <p:nvSpPr>
          <p:cNvPr id="294" name="Google Shape;294;p27"/>
          <p:cNvSpPr txBox="1"/>
          <p:nvPr/>
        </p:nvSpPr>
        <p:spPr>
          <a:xfrm>
            <a:off x="2190750" y="5072062"/>
            <a:ext cx="8191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12A46"/>
                </a:solidFill>
                <a:latin typeface="Lato"/>
                <a:ea typeface="Lato"/>
                <a:cs typeface="Lato"/>
                <a:sym typeface="Lato"/>
              </a:rPr>
              <a:t>Data Lineage: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Keeping a record of where data came from and how it was changed. This is crucial for debugging and auditing.</a:t>
            </a:r>
            <a:endParaRPr/>
          </a:p>
        </p:txBody>
      </p:sp>
      <p:pic>
        <p:nvPicPr>
          <p:cNvPr descr="image.png" id="295" name="Google Shape;295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2833687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6" name="Google Shape;296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3595687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7" name="Google Shape;297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9750" y="4357687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8" name="Google Shape;298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09750" y="5119687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7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12A46"/>
                </a:solidFill>
                <a:latin typeface="Poppins"/>
                <a:ea typeface="Poppins"/>
                <a:cs typeface="Poppins"/>
                <a:sym typeface="Poppins"/>
              </a:rPr>
              <a:t>What is Data Governance?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4" name="Google Shape;304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5" name="Google Shape;305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762125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28"/>
          <p:cNvSpPr txBox="1"/>
          <p:nvPr/>
        </p:nvSpPr>
        <p:spPr>
          <a:xfrm>
            <a:off x="571500" y="1762125"/>
            <a:ext cx="555069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12A46"/>
                </a:solidFill>
                <a:latin typeface="Poppins"/>
                <a:ea typeface="Poppins"/>
                <a:cs typeface="Poppins"/>
                <a:sym typeface="Poppins"/>
              </a:rPr>
              <a:t>Creating the "Base Model"</a:t>
            </a:r>
            <a:endParaRPr/>
          </a:p>
        </p:txBody>
      </p:sp>
      <p:sp>
        <p:nvSpPr>
          <p:cNvPr id="307" name="Google Shape;307;p28"/>
          <p:cNvSpPr txBox="1"/>
          <p:nvPr/>
        </p:nvSpPr>
        <p:spPr>
          <a:xfrm>
            <a:off x="571500" y="2333625"/>
            <a:ext cx="52863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This is the part we discussed earlier. We feed the massive, cleaned dataset (terabytes of text) into our Transformer architecture.</a:t>
            </a:r>
            <a:endParaRPr/>
          </a:p>
        </p:txBody>
      </p:sp>
      <p:sp>
        <p:nvSpPr>
          <p:cNvPr id="308" name="Google Shape;308;p28"/>
          <p:cNvSpPr txBox="1"/>
          <p:nvPr/>
        </p:nvSpPr>
        <p:spPr>
          <a:xfrm>
            <a:off x="714375" y="3038475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09" name="Google Shape;309;p28"/>
          <p:cNvSpPr txBox="1"/>
          <p:nvPr/>
        </p:nvSpPr>
        <p:spPr>
          <a:xfrm>
            <a:off x="809625" y="3038475"/>
            <a:ext cx="50482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model learns language, facts, and reasoning by predicting the next word or filling in masked words.</a:t>
            </a:r>
            <a:endParaRPr/>
          </a:p>
        </p:txBody>
      </p:sp>
      <p:sp>
        <p:nvSpPr>
          <p:cNvPr id="310" name="Google Shape;310;p28"/>
          <p:cNvSpPr txBox="1"/>
          <p:nvPr/>
        </p:nvSpPr>
        <p:spPr>
          <a:xfrm>
            <a:off x="714375" y="3695700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11" name="Google Shape;311;p28"/>
          <p:cNvSpPr txBox="1"/>
          <p:nvPr/>
        </p:nvSpPr>
        <p:spPr>
          <a:xfrm>
            <a:off x="809625" y="3695700"/>
            <a:ext cx="50482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This process takes weeks or months and costs millions in cloud computing.</a:t>
            </a:r>
            <a:endParaRPr/>
          </a:p>
        </p:txBody>
      </p:sp>
      <p:sp>
        <p:nvSpPr>
          <p:cNvPr id="312" name="Google Shape;312;p28"/>
          <p:cNvSpPr txBox="1"/>
          <p:nvPr/>
        </p:nvSpPr>
        <p:spPr>
          <a:xfrm>
            <a:off x="714375" y="4352925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13" name="Google Shape;313;p28"/>
          <p:cNvSpPr txBox="1"/>
          <p:nvPr/>
        </p:nvSpPr>
        <p:spPr>
          <a:xfrm>
            <a:off x="809625" y="4352925"/>
            <a:ext cx="50482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result is *not* a chatbot. It's a "base model"—a powerful but generalist engine.</a:t>
            </a:r>
            <a:endParaRPr/>
          </a:p>
        </p:txBody>
      </p:sp>
      <p:pic>
        <p:nvPicPr>
          <p:cNvPr descr="image.png" id="314" name="Google Shape;314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771650"/>
            <a:ext cx="52673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2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12A46"/>
                </a:solidFill>
                <a:latin typeface="Poppins"/>
                <a:ea typeface="Poppins"/>
                <a:cs typeface="Poppins"/>
                <a:sym typeface="Poppins"/>
              </a:rPr>
              <a:t>Phase 2: Model Training (Pre-training)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0" name="Google Shape;320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1" name="Google Shape;321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38375"/>
            <a:ext cx="342900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2" name="Google Shape;322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2238375"/>
            <a:ext cx="342900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3" name="Google Shape;323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0" y="2238375"/>
            <a:ext cx="342900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29"/>
          <p:cNvSpPr txBox="1"/>
          <p:nvPr/>
        </p:nvSpPr>
        <p:spPr>
          <a:xfrm>
            <a:off x="1045844" y="3248025"/>
            <a:ext cx="248031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A7CA5"/>
                </a:solidFill>
                <a:latin typeface="Poppins"/>
                <a:ea typeface="Poppins"/>
                <a:cs typeface="Poppins"/>
                <a:sym typeface="Poppins"/>
              </a:rPr>
              <a:t>What is Fine-Tuning?</a:t>
            </a:r>
            <a:endParaRPr/>
          </a:p>
        </p:txBody>
      </p:sp>
      <p:sp>
        <p:nvSpPr>
          <p:cNvPr id="325" name="Google Shape;325;p29"/>
          <p:cNvSpPr txBox="1"/>
          <p:nvPr/>
        </p:nvSpPr>
        <p:spPr>
          <a:xfrm>
            <a:off x="866775" y="3876675"/>
            <a:ext cx="28384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base model is a generalist. We now "specialize" it for a task (like being a helpful assistant) using a small, high-quality dataset.</a:t>
            </a:r>
            <a:endParaRPr/>
          </a:p>
        </p:txBody>
      </p:sp>
      <p:sp>
        <p:nvSpPr>
          <p:cNvPr id="326" name="Google Shape;326;p29"/>
          <p:cNvSpPr txBox="1"/>
          <p:nvPr/>
        </p:nvSpPr>
        <p:spPr>
          <a:xfrm>
            <a:off x="4605813" y="3248025"/>
            <a:ext cx="2980372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A7CA5"/>
                </a:solidFill>
                <a:latin typeface="Poppins"/>
                <a:ea typeface="Poppins"/>
                <a:cs typeface="Poppins"/>
                <a:sym typeface="Poppins"/>
              </a:rPr>
              <a:t>Supervised Fine-Tuning (SFT)</a:t>
            </a:r>
            <a:endParaRPr/>
          </a:p>
        </p:txBody>
      </p:sp>
      <p:sp>
        <p:nvSpPr>
          <p:cNvPr id="327" name="Google Shape;327;p29"/>
          <p:cNvSpPr txBox="1"/>
          <p:nvPr/>
        </p:nvSpPr>
        <p:spPr>
          <a:xfrm>
            <a:off x="4676775" y="4210050"/>
            <a:ext cx="28384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We "show" the model good examples. We create thousands of high-quality "Prompt-Response" pairs, and train the model to match them.</a:t>
            </a:r>
            <a:endParaRPr/>
          </a:p>
        </p:txBody>
      </p:sp>
      <p:sp>
        <p:nvSpPr>
          <p:cNvPr id="328" name="Google Shape;328;p29"/>
          <p:cNvSpPr txBox="1"/>
          <p:nvPr/>
        </p:nvSpPr>
        <p:spPr>
          <a:xfrm>
            <a:off x="9290923" y="3248025"/>
            <a:ext cx="123015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A7CA5"/>
                </a:solidFill>
                <a:latin typeface="Poppins"/>
                <a:ea typeface="Poppins"/>
                <a:cs typeface="Poppins"/>
                <a:sym typeface="Poppins"/>
              </a:rPr>
              <a:t>The Result</a:t>
            </a:r>
            <a:endParaRPr/>
          </a:p>
        </p:txBody>
      </p:sp>
      <p:sp>
        <p:nvSpPr>
          <p:cNvPr id="329" name="Google Shape;329;p29"/>
          <p:cNvSpPr txBox="1"/>
          <p:nvPr/>
        </p:nvSpPr>
        <p:spPr>
          <a:xfrm>
            <a:off x="8486775" y="3876675"/>
            <a:ext cx="28384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model learns to follow instructions, adopt a specific persona (e.g., "helpful assistant"), and answer questions in the desired format.</a:t>
            </a:r>
            <a:endParaRPr/>
          </a:p>
        </p:txBody>
      </p:sp>
      <p:pic>
        <p:nvPicPr>
          <p:cNvPr descr="image.png" id="330" name="Google Shape;330;p2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28825" y="2552700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1" name="Google Shape;331;p2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95975" y="2552700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2" name="Google Shape;332;p2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20250" y="2552700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29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12A46"/>
                </a:solidFill>
                <a:latin typeface="Poppins"/>
                <a:ea typeface="Poppins"/>
                <a:cs typeface="Poppins"/>
                <a:sym typeface="Poppins"/>
              </a:rPr>
              <a:t>Phase 3: Fine-Tuning the Base Model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8" name="Google Shape;33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9" name="Google Shape;339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762125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30"/>
          <p:cNvSpPr txBox="1"/>
          <p:nvPr/>
        </p:nvSpPr>
        <p:spPr>
          <a:xfrm>
            <a:off x="571500" y="1762125"/>
            <a:ext cx="555069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12A46"/>
                </a:solidFill>
                <a:latin typeface="Poppins"/>
                <a:ea typeface="Poppins"/>
                <a:cs typeface="Poppins"/>
                <a:sym typeface="Poppins"/>
              </a:rPr>
              <a:t>Pre-training (General)</a:t>
            </a:r>
            <a:endParaRPr/>
          </a:p>
        </p:txBody>
      </p:sp>
      <p:sp>
        <p:nvSpPr>
          <p:cNvPr id="341" name="Google Shape;341;p30"/>
          <p:cNvSpPr txBox="1"/>
          <p:nvPr/>
        </p:nvSpPr>
        <p:spPr>
          <a:xfrm>
            <a:off x="571500" y="3552825"/>
            <a:ext cx="555069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12A46"/>
                </a:solidFill>
                <a:latin typeface="Poppins"/>
                <a:ea typeface="Poppins"/>
                <a:cs typeface="Poppins"/>
                <a:sym typeface="Poppins"/>
              </a:rPr>
              <a:t>Supervised Fine-Tuning (Specific)</a:t>
            </a:r>
            <a:endParaRPr/>
          </a:p>
        </p:txBody>
      </p:sp>
      <p:sp>
        <p:nvSpPr>
          <p:cNvPr id="342" name="Google Shape;342;p30"/>
          <p:cNvSpPr txBox="1"/>
          <p:nvPr/>
        </p:nvSpPr>
        <p:spPr>
          <a:xfrm>
            <a:off x="714375" y="2352675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43" name="Google Shape;343;p30"/>
          <p:cNvSpPr txBox="1"/>
          <p:nvPr/>
        </p:nvSpPr>
        <p:spPr>
          <a:xfrm>
            <a:off x="809625" y="2352675"/>
            <a:ext cx="5048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Goal: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Learn language, facts, &amp; reasoning.</a:t>
            </a:r>
            <a:endParaRPr/>
          </a:p>
        </p:txBody>
      </p:sp>
      <p:sp>
        <p:nvSpPr>
          <p:cNvPr id="344" name="Google Shape;344;p30"/>
          <p:cNvSpPr txBox="1"/>
          <p:nvPr/>
        </p:nvSpPr>
        <p:spPr>
          <a:xfrm>
            <a:off x="714375" y="2752725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45" name="Google Shape;345;p30"/>
          <p:cNvSpPr txBox="1"/>
          <p:nvPr/>
        </p:nvSpPr>
        <p:spPr>
          <a:xfrm>
            <a:off x="809625" y="2752725"/>
            <a:ext cx="5048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Data: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Massive, unlabeled internet text.</a:t>
            </a:r>
            <a:endParaRPr/>
          </a:p>
        </p:txBody>
      </p:sp>
      <p:sp>
        <p:nvSpPr>
          <p:cNvPr id="346" name="Google Shape;346;p30"/>
          <p:cNvSpPr txBox="1"/>
          <p:nvPr/>
        </p:nvSpPr>
        <p:spPr>
          <a:xfrm>
            <a:off x="714375" y="3152775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47" name="Google Shape;347;p30"/>
          <p:cNvSpPr txBox="1"/>
          <p:nvPr/>
        </p:nvSpPr>
        <p:spPr>
          <a:xfrm>
            <a:off x="809625" y="3152775"/>
            <a:ext cx="5048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Task: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"Predict the next word." (e.g., "The capital of France is...")</a:t>
            </a:r>
            <a:endParaRPr/>
          </a:p>
        </p:txBody>
      </p:sp>
      <p:sp>
        <p:nvSpPr>
          <p:cNvPr id="348" name="Google Shape;348;p30"/>
          <p:cNvSpPr txBox="1"/>
          <p:nvPr/>
        </p:nvSpPr>
        <p:spPr>
          <a:xfrm>
            <a:off x="714375" y="4143375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49" name="Google Shape;349;p30"/>
          <p:cNvSpPr txBox="1"/>
          <p:nvPr/>
        </p:nvSpPr>
        <p:spPr>
          <a:xfrm>
            <a:off x="809625" y="4143375"/>
            <a:ext cx="5048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Goal: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Learn to follow instructions.</a:t>
            </a:r>
            <a:endParaRPr/>
          </a:p>
        </p:txBody>
      </p:sp>
      <p:sp>
        <p:nvSpPr>
          <p:cNvPr id="350" name="Google Shape;350;p30"/>
          <p:cNvSpPr txBox="1"/>
          <p:nvPr/>
        </p:nvSpPr>
        <p:spPr>
          <a:xfrm>
            <a:off x="714375" y="4543425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51" name="Google Shape;351;p30"/>
          <p:cNvSpPr txBox="1"/>
          <p:nvPr/>
        </p:nvSpPr>
        <p:spPr>
          <a:xfrm>
            <a:off x="809625" y="4543425"/>
            <a:ext cx="5048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Data: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Small, high-quality (Prompt, Response) pairs.</a:t>
            </a:r>
            <a:endParaRPr/>
          </a:p>
        </p:txBody>
      </p:sp>
      <p:sp>
        <p:nvSpPr>
          <p:cNvPr id="352" name="Google Shape;352;p30"/>
          <p:cNvSpPr txBox="1"/>
          <p:nvPr/>
        </p:nvSpPr>
        <p:spPr>
          <a:xfrm>
            <a:off x="714375" y="4943475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53" name="Google Shape;353;p30"/>
          <p:cNvSpPr txBox="1"/>
          <p:nvPr/>
        </p:nvSpPr>
        <p:spPr>
          <a:xfrm>
            <a:off x="809625" y="4943475"/>
            <a:ext cx="5048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Task: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"Given this *instruction*, produce this *exact response*."</a:t>
            </a:r>
            <a:endParaRPr/>
          </a:p>
        </p:txBody>
      </p:sp>
      <p:pic>
        <p:nvPicPr>
          <p:cNvPr descr="image.png" id="354" name="Google Shape;354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771650"/>
            <a:ext cx="52673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0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12A46"/>
                </a:solidFill>
                <a:latin typeface="Poppins"/>
                <a:ea typeface="Poppins"/>
                <a:cs typeface="Poppins"/>
                <a:sym typeface="Poppins"/>
              </a:rPr>
              <a:t>Phase 3 In-Depth: Pre-training vs. SFT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60" name="Google Shape;360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1" name="Google Shape;361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86000"/>
            <a:ext cx="5286375" cy="3238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2" name="Google Shape;362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286000"/>
            <a:ext cx="5286375" cy="3238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31"/>
          <p:cNvSpPr txBox="1"/>
          <p:nvPr/>
        </p:nvSpPr>
        <p:spPr>
          <a:xfrm>
            <a:off x="962025" y="2676525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A7CA5"/>
                </a:solidFill>
                <a:latin typeface="Poppins"/>
                <a:ea typeface="Poppins"/>
                <a:cs typeface="Poppins"/>
                <a:sym typeface="Poppins"/>
              </a:rPr>
              <a:t>Step 1: Train a "Reward Model"</a:t>
            </a:r>
            <a:endParaRPr/>
          </a:p>
        </p:txBody>
      </p:sp>
      <p:sp>
        <p:nvSpPr>
          <p:cNvPr id="364" name="Google Shape;364;p31"/>
          <p:cNvSpPr txBox="1"/>
          <p:nvPr/>
        </p:nvSpPr>
        <p:spPr>
          <a:xfrm>
            <a:off x="962025" y="3248025"/>
            <a:ext cx="4505325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How do we teach a model what's "good"? First, we ask humans to rank several of the model's answers to a prompt from best to worst.</a:t>
            </a:r>
            <a:endParaRPr/>
          </a:p>
        </p:txBody>
      </p:sp>
      <p:sp>
        <p:nvSpPr>
          <p:cNvPr id="365" name="Google Shape;365;p31"/>
          <p:cNvSpPr txBox="1"/>
          <p:nvPr/>
        </p:nvSpPr>
        <p:spPr>
          <a:xfrm>
            <a:off x="962025" y="4191000"/>
            <a:ext cx="45053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We then train a *separate model* (the Reward Model) to predict this human ranking. It becomes our "AI Judge."</a:t>
            </a:r>
            <a:endParaRPr/>
          </a:p>
        </p:txBody>
      </p:sp>
      <p:sp>
        <p:nvSpPr>
          <p:cNvPr id="366" name="Google Shape;366;p31"/>
          <p:cNvSpPr txBox="1"/>
          <p:nvPr/>
        </p:nvSpPr>
        <p:spPr>
          <a:xfrm>
            <a:off x="6724650" y="2676525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A7CA5"/>
                </a:solidFill>
                <a:latin typeface="Poppins"/>
                <a:ea typeface="Poppins"/>
                <a:cs typeface="Poppins"/>
                <a:sym typeface="Poppins"/>
              </a:rPr>
              <a:t>Step 2: RLHF</a:t>
            </a:r>
            <a:endParaRPr/>
          </a:p>
        </p:txBody>
      </p:sp>
      <p:sp>
        <p:nvSpPr>
          <p:cNvPr id="367" name="Google Shape;367;p31"/>
          <p:cNvSpPr txBox="1"/>
          <p:nvPr/>
        </p:nvSpPr>
        <p:spPr>
          <a:xfrm>
            <a:off x="6724650" y="3248025"/>
            <a:ext cx="45053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This stands for </a:t>
            </a: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Reinforcement Learning from Human Feedback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 We now "freeze" our AI Judge.</a:t>
            </a:r>
            <a:endParaRPr/>
          </a:p>
        </p:txBody>
      </p:sp>
      <p:sp>
        <p:nvSpPr>
          <p:cNvPr id="368" name="Google Shape;368;p31"/>
          <p:cNvSpPr txBox="1"/>
          <p:nvPr/>
        </p:nvSpPr>
        <p:spPr>
          <a:xfrm>
            <a:off x="6724650" y="3933825"/>
            <a:ext cx="4505325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Transformer (LLM) generates an answer. The AI Judge scores it. The LLM then updates itself to try and get a *higher* score next time. This process steers the model to be more helpful, honest, and harmless.</a:t>
            </a:r>
            <a:endParaRPr/>
          </a:p>
        </p:txBody>
      </p:sp>
      <p:sp>
        <p:nvSpPr>
          <p:cNvPr id="369" name="Google Shape;369;p31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12A46"/>
                </a:solidFill>
                <a:latin typeface="Poppins"/>
                <a:ea typeface="Poppins"/>
                <a:cs typeface="Poppins"/>
                <a:sym typeface="Poppins"/>
              </a:rPr>
              <a:t>Phase 4: Making the Model 'Safer' (RLHF)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74" name="Google Shape;374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5" name="Google Shape;375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62125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32"/>
          <p:cNvSpPr txBox="1"/>
          <p:nvPr/>
        </p:nvSpPr>
        <p:spPr>
          <a:xfrm>
            <a:off x="6334125" y="1762125"/>
            <a:ext cx="555069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12A46"/>
                </a:solidFill>
                <a:latin typeface="Poppins"/>
                <a:ea typeface="Poppins"/>
                <a:cs typeface="Poppins"/>
                <a:sym typeface="Poppins"/>
              </a:rPr>
              <a:t>1. Generate Data</a:t>
            </a:r>
            <a:endParaRPr/>
          </a:p>
        </p:txBody>
      </p:sp>
      <p:sp>
        <p:nvSpPr>
          <p:cNvPr id="377" name="Google Shape;377;p32"/>
          <p:cNvSpPr txBox="1"/>
          <p:nvPr/>
        </p:nvSpPr>
        <p:spPr>
          <a:xfrm>
            <a:off x="6334125" y="2333625"/>
            <a:ext cx="52863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Take the SFT model and a list of prompts. Generate 3-4 different answers for each prompt (A, B, C, D).</a:t>
            </a:r>
            <a:endParaRPr/>
          </a:p>
        </p:txBody>
      </p:sp>
      <p:sp>
        <p:nvSpPr>
          <p:cNvPr id="378" name="Google Shape;378;p32"/>
          <p:cNvSpPr txBox="1"/>
          <p:nvPr/>
        </p:nvSpPr>
        <p:spPr>
          <a:xfrm>
            <a:off x="6334125" y="3019425"/>
            <a:ext cx="555069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12A46"/>
                </a:solidFill>
                <a:latin typeface="Poppins"/>
                <a:ea typeface="Poppins"/>
                <a:cs typeface="Poppins"/>
                <a:sym typeface="Poppins"/>
              </a:rPr>
              <a:t>2. Human Ranking</a:t>
            </a:r>
            <a:endParaRPr/>
          </a:p>
        </p:txBody>
      </p:sp>
      <p:sp>
        <p:nvSpPr>
          <p:cNvPr id="379" name="Google Shape;379;p32"/>
          <p:cNvSpPr txBox="1"/>
          <p:nvPr/>
        </p:nvSpPr>
        <p:spPr>
          <a:xfrm>
            <a:off x="6334125" y="3590925"/>
            <a:ext cx="52863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Human labelers review the answers and rank them from best (A) to worst (D) based on helpfulness and safety.</a:t>
            </a:r>
            <a:endParaRPr/>
          </a:p>
        </p:txBody>
      </p:sp>
      <p:sp>
        <p:nvSpPr>
          <p:cNvPr id="380" name="Google Shape;380;p32"/>
          <p:cNvSpPr txBox="1"/>
          <p:nvPr/>
        </p:nvSpPr>
        <p:spPr>
          <a:xfrm>
            <a:off x="6334125" y="4276725"/>
            <a:ext cx="555069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12A46"/>
                </a:solidFill>
                <a:latin typeface="Poppins"/>
                <a:ea typeface="Poppins"/>
                <a:cs typeface="Poppins"/>
                <a:sym typeface="Poppins"/>
              </a:rPr>
              <a:t>3. Train the "Judge"</a:t>
            </a:r>
            <a:endParaRPr/>
          </a:p>
        </p:txBody>
      </p:sp>
      <p:sp>
        <p:nvSpPr>
          <p:cNvPr id="381" name="Google Shape;381;p32"/>
          <p:cNvSpPr txBox="1"/>
          <p:nvPr/>
        </p:nvSpPr>
        <p:spPr>
          <a:xfrm>
            <a:off x="6334125" y="4848225"/>
            <a:ext cx="5286375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This ranked data is used to train a separate </a:t>
            </a: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Reward Model (RM)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 Its only job is to read a (Prompt, Response) pair and output a single score (e.g., "7.5") predicting how much a human would like it.</a:t>
            </a:r>
            <a:endParaRPr/>
          </a:p>
        </p:txBody>
      </p:sp>
      <p:pic>
        <p:nvPicPr>
          <p:cNvPr descr="image.png" id="382" name="Google Shape;382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1771650"/>
            <a:ext cx="5267325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32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12A46"/>
                </a:solidFill>
                <a:latin typeface="Poppins"/>
                <a:ea typeface="Poppins"/>
                <a:cs typeface="Poppins"/>
                <a:sym typeface="Poppins"/>
              </a:rPr>
              <a:t>Phase 4 In-Depth: Training the Reward Model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88" name="Google Shape;388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9" name="Google Shape;389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519237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33"/>
          <p:cNvSpPr txBox="1"/>
          <p:nvPr/>
        </p:nvSpPr>
        <p:spPr>
          <a:xfrm>
            <a:off x="571500" y="1519237"/>
            <a:ext cx="555069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12A46"/>
                </a:solidFill>
                <a:latin typeface="Poppins"/>
                <a:ea typeface="Poppins"/>
                <a:cs typeface="Poppins"/>
                <a:sym typeface="Poppins"/>
              </a:rPr>
              <a:t>1. Get a Prompt</a:t>
            </a:r>
            <a:endParaRPr/>
          </a:p>
        </p:txBody>
      </p:sp>
      <p:sp>
        <p:nvSpPr>
          <p:cNvPr id="391" name="Google Shape;391;p33"/>
          <p:cNvSpPr txBox="1"/>
          <p:nvPr/>
        </p:nvSpPr>
        <p:spPr>
          <a:xfrm>
            <a:off x="571500" y="2090737"/>
            <a:ext cx="52863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 new prompt is sampled from the dataset.</a:t>
            </a:r>
            <a:endParaRPr/>
          </a:p>
        </p:txBody>
      </p:sp>
      <p:sp>
        <p:nvSpPr>
          <p:cNvPr id="392" name="Google Shape;392;p33"/>
          <p:cNvSpPr txBox="1"/>
          <p:nvPr/>
        </p:nvSpPr>
        <p:spPr>
          <a:xfrm>
            <a:off x="571500" y="2519362"/>
            <a:ext cx="555069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12A46"/>
                </a:solidFill>
                <a:latin typeface="Poppins"/>
                <a:ea typeface="Poppins"/>
                <a:cs typeface="Poppins"/>
                <a:sym typeface="Poppins"/>
              </a:rPr>
              <a:t>2. Model Responds</a:t>
            </a:r>
            <a:endParaRPr/>
          </a:p>
        </p:txBody>
      </p:sp>
      <p:sp>
        <p:nvSpPr>
          <p:cNvPr id="393" name="Google Shape;393;p33"/>
          <p:cNvSpPr txBox="1"/>
          <p:nvPr/>
        </p:nvSpPr>
        <p:spPr>
          <a:xfrm>
            <a:off x="571500" y="3090862"/>
            <a:ext cx="52863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SFT model (now called the "Policy") generates a response.</a:t>
            </a:r>
            <a:endParaRPr/>
          </a:p>
        </p:txBody>
      </p:sp>
      <p:sp>
        <p:nvSpPr>
          <p:cNvPr id="394" name="Google Shape;394;p33"/>
          <p:cNvSpPr txBox="1"/>
          <p:nvPr/>
        </p:nvSpPr>
        <p:spPr>
          <a:xfrm>
            <a:off x="571500" y="3519487"/>
            <a:ext cx="555069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12A46"/>
                </a:solidFill>
                <a:latin typeface="Poppins"/>
                <a:ea typeface="Poppins"/>
                <a:cs typeface="Poppins"/>
                <a:sym typeface="Poppins"/>
              </a:rPr>
              <a:t>3. Judge Scores</a:t>
            </a:r>
            <a:endParaRPr/>
          </a:p>
        </p:txBody>
      </p:sp>
      <p:sp>
        <p:nvSpPr>
          <p:cNvPr id="395" name="Google Shape;395;p33"/>
          <p:cNvSpPr txBox="1"/>
          <p:nvPr/>
        </p:nvSpPr>
        <p:spPr>
          <a:xfrm>
            <a:off x="571500" y="4090987"/>
            <a:ext cx="52863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"frozen" Reward Model (our AI Judge) reads the (Prompt, Response) and assigns a score (the "reward").</a:t>
            </a:r>
            <a:endParaRPr/>
          </a:p>
        </p:txBody>
      </p:sp>
      <p:sp>
        <p:nvSpPr>
          <p:cNvPr id="396" name="Google Shape;396;p33"/>
          <p:cNvSpPr txBox="1"/>
          <p:nvPr/>
        </p:nvSpPr>
        <p:spPr>
          <a:xfrm>
            <a:off x="571500" y="4776787"/>
            <a:ext cx="555069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12A46"/>
                </a:solidFill>
                <a:latin typeface="Poppins"/>
                <a:ea typeface="Poppins"/>
                <a:cs typeface="Poppins"/>
                <a:sym typeface="Poppins"/>
              </a:rPr>
              <a:t>4. Model Updates</a:t>
            </a:r>
            <a:endParaRPr/>
          </a:p>
        </p:txBody>
      </p:sp>
      <p:sp>
        <p:nvSpPr>
          <p:cNvPr id="397" name="Google Shape;397;p33"/>
          <p:cNvSpPr txBox="1"/>
          <p:nvPr/>
        </p:nvSpPr>
        <p:spPr>
          <a:xfrm>
            <a:off x="571500" y="5348287"/>
            <a:ext cx="5286375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Using an RL algorithm (like PPO), the SFT model's parameters are slightly updated to make it *more likely* to produce responses that will get a *high score* in the future.</a:t>
            </a:r>
            <a:endParaRPr/>
          </a:p>
        </p:txBody>
      </p:sp>
      <p:pic>
        <p:nvPicPr>
          <p:cNvPr descr="image.png" id="398" name="Google Shape;398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528762"/>
            <a:ext cx="5267325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33"/>
          <p:cNvSpPr txBox="1"/>
          <p:nvPr/>
        </p:nvSpPr>
        <p:spPr>
          <a:xfrm>
            <a:off x="571500" y="566737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12A46"/>
                </a:solidFill>
                <a:latin typeface="Poppins"/>
                <a:ea typeface="Poppins"/>
                <a:cs typeface="Poppins"/>
                <a:sym typeface="Poppins"/>
              </a:rPr>
              <a:t>Phase 4 In-Depth: The Reinforcement Learning Loop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04" name="Google Shape;40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5" name="Google Shape;405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762125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34"/>
          <p:cNvSpPr txBox="1"/>
          <p:nvPr/>
        </p:nvSpPr>
        <p:spPr>
          <a:xfrm>
            <a:off x="571500" y="1762125"/>
            <a:ext cx="555069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12A46"/>
                </a:solidFill>
                <a:latin typeface="Poppins"/>
                <a:ea typeface="Poppins"/>
                <a:cs typeface="Poppins"/>
                <a:sym typeface="Poppins"/>
              </a:rPr>
              <a:t>Making it Usable</a:t>
            </a:r>
            <a:endParaRPr/>
          </a:p>
        </p:txBody>
      </p:sp>
      <p:sp>
        <p:nvSpPr>
          <p:cNvPr id="407" name="Google Shape;407;p34"/>
          <p:cNvSpPr txBox="1"/>
          <p:nvPr/>
        </p:nvSpPr>
        <p:spPr>
          <a:xfrm>
            <a:off x="571500" y="2333625"/>
            <a:ext cx="52863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final model is still massive (100s of GB). To make it fast and accessible:</a:t>
            </a:r>
            <a:endParaRPr/>
          </a:p>
        </p:txBody>
      </p:sp>
      <p:sp>
        <p:nvSpPr>
          <p:cNvPr id="408" name="Google Shape;408;p34"/>
          <p:cNvSpPr txBox="1"/>
          <p:nvPr/>
        </p:nvSpPr>
        <p:spPr>
          <a:xfrm>
            <a:off x="714375" y="3038475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409" name="Google Shape;409;p34"/>
          <p:cNvSpPr txBox="1"/>
          <p:nvPr/>
        </p:nvSpPr>
        <p:spPr>
          <a:xfrm>
            <a:off x="809625" y="3038475"/>
            <a:ext cx="50482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Quantization: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Making the model smaller by using lower-precision numbers.</a:t>
            </a:r>
            <a:endParaRPr/>
          </a:p>
        </p:txBody>
      </p:sp>
      <p:sp>
        <p:nvSpPr>
          <p:cNvPr id="410" name="Google Shape;410;p34"/>
          <p:cNvSpPr txBox="1"/>
          <p:nvPr/>
        </p:nvSpPr>
        <p:spPr>
          <a:xfrm>
            <a:off x="714375" y="3695700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411" name="Google Shape;411;p34"/>
          <p:cNvSpPr txBox="1"/>
          <p:nvPr/>
        </p:nvSpPr>
        <p:spPr>
          <a:xfrm>
            <a:off x="809625" y="3695700"/>
            <a:ext cx="50482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Inference Optimization: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Using tools to make the model run efficiently on specific hardware (GPUs/TPUs).</a:t>
            </a:r>
            <a:endParaRPr/>
          </a:p>
        </p:txBody>
      </p:sp>
      <p:sp>
        <p:nvSpPr>
          <p:cNvPr id="412" name="Google Shape;412;p34"/>
          <p:cNvSpPr txBox="1"/>
          <p:nvPr/>
        </p:nvSpPr>
        <p:spPr>
          <a:xfrm>
            <a:off x="714375" y="4352925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413" name="Google Shape;413;p34"/>
          <p:cNvSpPr txBox="1"/>
          <p:nvPr/>
        </p:nvSpPr>
        <p:spPr>
          <a:xfrm>
            <a:off x="809625" y="4352925"/>
            <a:ext cx="50482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Serving Infrastructure: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Putting the model behind an API (Application Programming Interface) on a server so apps can send it requests.</a:t>
            </a:r>
            <a:endParaRPr/>
          </a:p>
        </p:txBody>
      </p:sp>
      <p:pic>
        <p:nvPicPr>
          <p:cNvPr descr="image.png" id="414" name="Google Shape;414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771650"/>
            <a:ext cx="5267325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34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12A46"/>
                </a:solidFill>
                <a:latin typeface="Poppins"/>
                <a:ea typeface="Poppins"/>
                <a:cs typeface="Poppins"/>
                <a:sym typeface="Poppins"/>
              </a:rPr>
              <a:t>Phase 5: Deployment &amp; Serving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20" name="Google Shape;420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1" name="Google Shape;421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05062"/>
            <a:ext cx="3429000" cy="3000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2" name="Google Shape;422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2405062"/>
            <a:ext cx="3429000" cy="3000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3" name="Google Shape;423;p3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0" y="2405062"/>
            <a:ext cx="3429000" cy="3000375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35"/>
          <p:cNvSpPr txBox="1"/>
          <p:nvPr/>
        </p:nvSpPr>
        <p:spPr>
          <a:xfrm>
            <a:off x="1180861" y="3414712"/>
            <a:ext cx="2210276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A7CA5"/>
                </a:solidFill>
                <a:latin typeface="Poppins"/>
                <a:ea typeface="Poppins"/>
                <a:cs typeface="Poppins"/>
                <a:sym typeface="Poppins"/>
              </a:rPr>
              <a:t>Monitoring for Drift</a:t>
            </a:r>
            <a:endParaRPr/>
          </a:p>
        </p:txBody>
      </p:sp>
      <p:sp>
        <p:nvSpPr>
          <p:cNvPr id="425" name="Google Shape;425;p35"/>
          <p:cNvSpPr txBox="1"/>
          <p:nvPr/>
        </p:nvSpPr>
        <p:spPr>
          <a:xfrm>
            <a:off x="866775" y="4043362"/>
            <a:ext cx="28384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We watch the model's performance. Is it getting worse? Are users asking new kinds of questions we didn't expect? (This is "model drift").</a:t>
            </a:r>
            <a:endParaRPr/>
          </a:p>
        </p:txBody>
      </p:sp>
      <p:sp>
        <p:nvSpPr>
          <p:cNvPr id="426" name="Google Shape;426;p35"/>
          <p:cNvSpPr txBox="1"/>
          <p:nvPr/>
        </p:nvSpPr>
        <p:spPr>
          <a:xfrm>
            <a:off x="4865846" y="3414712"/>
            <a:ext cx="246030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A7CA5"/>
                </a:solidFill>
                <a:latin typeface="Poppins"/>
                <a:ea typeface="Poppins"/>
                <a:cs typeface="Poppins"/>
                <a:sym typeface="Poppins"/>
              </a:rPr>
              <a:t>Capturing Feedback</a:t>
            </a:r>
            <a:endParaRPr/>
          </a:p>
        </p:txBody>
      </p:sp>
      <p:sp>
        <p:nvSpPr>
          <p:cNvPr id="427" name="Google Shape;427;p35"/>
          <p:cNvSpPr txBox="1"/>
          <p:nvPr/>
        </p:nvSpPr>
        <p:spPr>
          <a:xfrm>
            <a:off x="4676775" y="4043362"/>
            <a:ext cx="28384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We log new prompts and (with user permission) capture "thumbs up/down" signals. This identifies where the model is failing or succeeding.</a:t>
            </a:r>
            <a:endParaRPr/>
          </a:p>
        </p:txBody>
      </p:sp>
      <p:sp>
        <p:nvSpPr>
          <p:cNvPr id="428" name="Google Shape;428;p35"/>
          <p:cNvSpPr txBox="1"/>
          <p:nvPr/>
        </p:nvSpPr>
        <p:spPr>
          <a:xfrm>
            <a:off x="8620839" y="3414712"/>
            <a:ext cx="257032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A7CA5"/>
                </a:solidFill>
                <a:latin typeface="Poppins"/>
                <a:ea typeface="Poppins"/>
                <a:cs typeface="Poppins"/>
                <a:sym typeface="Poppins"/>
              </a:rPr>
              <a:t>Retraining (The Loop)</a:t>
            </a:r>
            <a:endParaRPr/>
          </a:p>
        </p:txBody>
      </p:sp>
      <p:sp>
        <p:nvSpPr>
          <p:cNvPr id="429" name="Google Shape;429;p35"/>
          <p:cNvSpPr txBox="1"/>
          <p:nvPr/>
        </p:nvSpPr>
        <p:spPr>
          <a:xfrm>
            <a:off x="8486775" y="4043362"/>
            <a:ext cx="28384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This new data is used to create new SFT examples and new RLHF preferences. We then re-tune the model, deploy the new version, and the cycle begins again.</a:t>
            </a:r>
            <a:endParaRPr/>
          </a:p>
        </p:txBody>
      </p:sp>
      <p:pic>
        <p:nvPicPr>
          <p:cNvPr descr="image.png" id="430" name="Google Shape;430;p3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67400" y="271938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1" name="Google Shape;431;p3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77400" y="2719387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35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12A46"/>
                </a:solidFill>
                <a:latin typeface="Poppins"/>
                <a:ea typeface="Poppins"/>
                <a:cs typeface="Poppins"/>
                <a:sym typeface="Poppins"/>
              </a:rPr>
              <a:t>Phase 6: Monitoring &amp; The Feedback Loop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37" name="Google Shape;43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8" name="Google Shape;438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762125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6"/>
          <p:cNvSpPr txBox="1"/>
          <p:nvPr/>
        </p:nvSpPr>
        <p:spPr>
          <a:xfrm>
            <a:off x="571500" y="1762125"/>
            <a:ext cx="555069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12A46"/>
                </a:solidFill>
                <a:latin typeface="Poppins"/>
                <a:ea typeface="Poppins"/>
                <a:cs typeface="Poppins"/>
                <a:sym typeface="Poppins"/>
              </a:rPr>
              <a:t>1. Model &amp; Data Drift</a:t>
            </a:r>
            <a:endParaRPr/>
          </a:p>
        </p:txBody>
      </p:sp>
      <p:sp>
        <p:nvSpPr>
          <p:cNvPr id="440" name="Google Shape;440;p36"/>
          <p:cNvSpPr txBox="1"/>
          <p:nvPr/>
        </p:nvSpPr>
        <p:spPr>
          <a:xfrm>
            <a:off x="571500" y="2333625"/>
            <a:ext cx="52863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Are users asking about *new topics* (e.g., a new movie) we haven't trained on? Is the *meaning* of words changing? This is "drift."</a:t>
            </a:r>
            <a:endParaRPr/>
          </a:p>
        </p:txBody>
      </p:sp>
      <p:sp>
        <p:nvSpPr>
          <p:cNvPr id="441" name="Google Shape;441;p36"/>
          <p:cNvSpPr txBox="1"/>
          <p:nvPr/>
        </p:nvSpPr>
        <p:spPr>
          <a:xfrm>
            <a:off x="571500" y="3019425"/>
            <a:ext cx="555069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12A46"/>
                </a:solidFill>
                <a:latin typeface="Poppins"/>
                <a:ea typeface="Poppins"/>
                <a:cs typeface="Poppins"/>
                <a:sym typeface="Poppins"/>
              </a:rPr>
              <a:t>2. Model Quality &amp; Bias</a:t>
            </a:r>
            <a:endParaRPr/>
          </a:p>
        </p:txBody>
      </p:sp>
      <p:sp>
        <p:nvSpPr>
          <p:cNvPr id="442" name="Google Shape;442;p36"/>
          <p:cNvSpPr txBox="1"/>
          <p:nvPr/>
        </p:nvSpPr>
        <p:spPr>
          <a:xfrm>
            <a:off x="571500" y="3590925"/>
            <a:ext cx="52863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Are a lot of "thumbs down" responses coming in? Is the model showing bias (e.g., in gender, race)? We track these "soft" quality metrics.</a:t>
            </a:r>
            <a:endParaRPr/>
          </a:p>
        </p:txBody>
      </p:sp>
      <p:sp>
        <p:nvSpPr>
          <p:cNvPr id="443" name="Google Shape;443;p36"/>
          <p:cNvSpPr txBox="1"/>
          <p:nvPr/>
        </p:nvSpPr>
        <p:spPr>
          <a:xfrm>
            <a:off x="571500" y="4276725"/>
            <a:ext cx="555069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12A46"/>
                </a:solidFill>
                <a:latin typeface="Poppins"/>
                <a:ea typeface="Poppins"/>
                <a:cs typeface="Poppins"/>
                <a:sym typeface="Poppins"/>
              </a:rPr>
              <a:t>3. Operational Health</a:t>
            </a:r>
            <a:endParaRPr/>
          </a:p>
        </p:txBody>
      </p:sp>
      <p:sp>
        <p:nvSpPr>
          <p:cNvPr id="444" name="Google Shape;444;p36"/>
          <p:cNvSpPr txBox="1"/>
          <p:nvPr/>
        </p:nvSpPr>
        <p:spPr>
          <a:xfrm>
            <a:off x="571500" y="4848225"/>
            <a:ext cx="52863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Is the model fast? (Latency). Is it expensive to run? (Cost). Is the API failing? (Error Rate). These are "hard" engineering metrics.</a:t>
            </a:r>
            <a:endParaRPr/>
          </a:p>
        </p:txBody>
      </p:sp>
      <p:pic>
        <p:nvPicPr>
          <p:cNvPr descr="image.png" id="445" name="Google Shape;445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771650"/>
            <a:ext cx="5267325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36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12A46"/>
                </a:solidFill>
                <a:latin typeface="Poppins"/>
                <a:ea typeface="Poppins"/>
                <a:cs typeface="Poppins"/>
                <a:sym typeface="Poppins"/>
              </a:rPr>
              <a:t>Phase 6 In-Depth: What We Track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51" name="Google Shape;45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37"/>
          <p:cNvSpPr txBox="1"/>
          <p:nvPr/>
        </p:nvSpPr>
        <p:spPr>
          <a:xfrm>
            <a:off x="295275" y="2490787"/>
            <a:ext cx="116014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112A46"/>
                </a:solidFill>
                <a:latin typeface="Poppins"/>
                <a:ea typeface="Poppins"/>
                <a:cs typeface="Poppins"/>
                <a:sym typeface="Poppins"/>
              </a:rPr>
              <a:t>Questions?</a:t>
            </a:r>
            <a:endParaRPr/>
          </a:p>
        </p:txBody>
      </p:sp>
      <p:sp>
        <p:nvSpPr>
          <p:cNvPr id="453" name="Google Shape;453;p37"/>
          <p:cNvSpPr txBox="1"/>
          <p:nvPr/>
        </p:nvSpPr>
        <p:spPr>
          <a:xfrm>
            <a:off x="571500" y="3843337"/>
            <a:ext cx="11049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Thank you.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58" name="Google Shape;458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9" name="Google Shape;459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66862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60" name="Google Shape;460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38387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61" name="Google Shape;461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195637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62" name="Google Shape;462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138612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63" name="Google Shape;463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995862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64" name="Google Shape;464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576738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38"/>
          <p:cNvSpPr/>
          <p:nvPr/>
        </p:nvSpPr>
        <p:spPr>
          <a:xfrm>
            <a:off x="571500" y="218598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38"/>
          <p:cNvSpPr/>
          <p:nvPr/>
        </p:nvSpPr>
        <p:spPr>
          <a:xfrm>
            <a:off x="571500" y="29575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38"/>
          <p:cNvSpPr/>
          <p:nvPr/>
        </p:nvSpPr>
        <p:spPr>
          <a:xfrm>
            <a:off x="571500" y="390048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38"/>
          <p:cNvSpPr/>
          <p:nvPr/>
        </p:nvSpPr>
        <p:spPr>
          <a:xfrm>
            <a:off x="571500" y="484346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38"/>
          <p:cNvSpPr/>
          <p:nvPr/>
        </p:nvSpPr>
        <p:spPr>
          <a:xfrm>
            <a:off x="571500" y="561498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70" name="Google Shape;470;p3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156686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38"/>
          <p:cNvSpPr txBox="1"/>
          <p:nvPr/>
        </p:nvSpPr>
        <p:spPr>
          <a:xfrm>
            <a:off x="1666875" y="1574006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https://www.practicalai.io/wp-content/uploads/2023/02/encoder-decoder.png</a:t>
            </a:r>
            <a:endParaRPr/>
          </a:p>
        </p:txBody>
      </p:sp>
      <p:sp>
        <p:nvSpPr>
          <p:cNvPr id="472" name="Google Shape;472;p38"/>
          <p:cNvSpPr txBox="1"/>
          <p:nvPr/>
        </p:nvSpPr>
        <p:spPr>
          <a:xfrm>
            <a:off x="1666875" y="1807368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www.practicalai.io</a:t>
            </a:r>
            <a:endParaRPr/>
          </a:p>
        </p:txBody>
      </p:sp>
      <p:pic>
        <p:nvPicPr>
          <p:cNvPr descr="image.png" id="473" name="Google Shape;473;p3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233838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74" name="Google Shape;474;p38"/>
          <p:cNvSpPr txBox="1"/>
          <p:nvPr/>
        </p:nvSpPr>
        <p:spPr>
          <a:xfrm>
            <a:off x="1666875" y="2345531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https://d2l.ai/_images/multi-head-attention.svg</a:t>
            </a:r>
            <a:endParaRPr/>
          </a:p>
        </p:txBody>
      </p:sp>
      <p:sp>
        <p:nvSpPr>
          <p:cNvPr id="475" name="Google Shape;475;p38"/>
          <p:cNvSpPr txBox="1"/>
          <p:nvPr/>
        </p:nvSpPr>
        <p:spPr>
          <a:xfrm>
            <a:off x="1666875" y="2578893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d2l.ai</a:t>
            </a:r>
            <a:endParaRPr/>
          </a:p>
        </p:txBody>
      </p:sp>
      <p:pic>
        <p:nvPicPr>
          <p:cNvPr descr="image.png" id="476" name="Google Shape;476;p3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319563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38"/>
          <p:cNvSpPr txBox="1"/>
          <p:nvPr/>
        </p:nvSpPr>
        <p:spPr>
          <a:xfrm>
            <a:off x="1666875" y="3109912"/>
            <a:ext cx="99536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https://substackcdn.com/image/fetch/f_auto,q_auto:good,fl_progressive:steep/https%3A%2F%2Fsubstack-post-media.s3.amazonaws.com%2Fpublic%2Fimages%2Fc3e159bd-1228-4205-b1eb-5898ab9172d3_1600x856.png</a:t>
            </a:r>
            <a:endParaRPr/>
          </a:p>
        </p:txBody>
      </p:sp>
      <p:sp>
        <p:nvSpPr>
          <p:cNvPr id="478" name="Google Shape;478;p38"/>
          <p:cNvSpPr txBox="1"/>
          <p:nvPr/>
        </p:nvSpPr>
        <p:spPr>
          <a:xfrm>
            <a:off x="1666875" y="3529012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www.understandingai.org</a:t>
            </a:r>
            <a:endParaRPr/>
          </a:p>
        </p:txBody>
      </p:sp>
      <p:pic>
        <p:nvPicPr>
          <p:cNvPr descr="image.png" id="479" name="Google Shape;479;p3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413861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38"/>
          <p:cNvSpPr txBox="1"/>
          <p:nvPr/>
        </p:nvSpPr>
        <p:spPr>
          <a:xfrm>
            <a:off x="1666875" y="4052887"/>
            <a:ext cx="99536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https://substackcdn.com/image/fetch/$s_!wEtP!,f_auto,q_auto:good,fl_progressive:steep/https%3A%2F%2Fsubstack-post-media.s3.amazonaws.com%2Fpublic%2Fimages%2F4c51db77-8d97-45a9-bd2c-d71e930ff0b8_2292x1234.png</a:t>
            </a:r>
            <a:endParaRPr/>
          </a:p>
        </p:txBody>
      </p:sp>
      <p:sp>
        <p:nvSpPr>
          <p:cNvPr id="481" name="Google Shape;481;p38"/>
          <p:cNvSpPr txBox="1"/>
          <p:nvPr/>
        </p:nvSpPr>
        <p:spPr>
          <a:xfrm>
            <a:off x="1666875" y="4471987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cameronrwolfe.substack.com</a:t>
            </a:r>
            <a:endParaRPr/>
          </a:p>
        </p:txBody>
      </p:sp>
      <p:pic>
        <p:nvPicPr>
          <p:cNvPr descr="image.png" id="482" name="Google Shape;482;p3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71500" y="499586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p38"/>
          <p:cNvSpPr txBox="1"/>
          <p:nvPr/>
        </p:nvSpPr>
        <p:spPr>
          <a:xfrm>
            <a:off x="1666875" y="5003006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https://upload.wikimedia.org/wikipedia/commons/thumb/b/b2/RLHF_diagram.svg/1200px-RLHF_diagram.svg.png</a:t>
            </a:r>
            <a:endParaRPr/>
          </a:p>
        </p:txBody>
      </p:sp>
      <p:sp>
        <p:nvSpPr>
          <p:cNvPr id="484" name="Google Shape;484;p38"/>
          <p:cNvSpPr txBox="1"/>
          <p:nvPr/>
        </p:nvSpPr>
        <p:spPr>
          <a:xfrm>
            <a:off x="1666875" y="5236368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en.wikipedia.org</a:t>
            </a:r>
            <a:endParaRPr/>
          </a:p>
        </p:txBody>
      </p:sp>
      <p:pic>
        <p:nvPicPr>
          <p:cNvPr descr="image.png" id="485" name="Google Shape;485;p3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71500" y="576738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38"/>
          <p:cNvSpPr txBox="1"/>
          <p:nvPr/>
        </p:nvSpPr>
        <p:spPr>
          <a:xfrm>
            <a:off x="1666875" y="5774531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https://miro.medium.com/v2/resize:fit:1400/1*iLsD4Nnh_lGbgq941CS72A.png</a:t>
            </a:r>
            <a:endParaRPr/>
          </a:p>
        </p:txBody>
      </p:sp>
      <p:sp>
        <p:nvSpPr>
          <p:cNvPr id="487" name="Google Shape;487;p38"/>
          <p:cNvSpPr txBox="1"/>
          <p:nvPr/>
        </p:nvSpPr>
        <p:spPr>
          <a:xfrm>
            <a:off x="1666875" y="6007893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abvijaykumar.medium.com</a:t>
            </a:r>
            <a:endParaRPr/>
          </a:p>
        </p:txBody>
      </p:sp>
      <p:sp>
        <p:nvSpPr>
          <p:cNvPr id="488" name="Google Shape;488;p38"/>
          <p:cNvSpPr txBox="1"/>
          <p:nvPr/>
        </p:nvSpPr>
        <p:spPr>
          <a:xfrm>
            <a:off x="571500" y="471487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12A46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93" name="Google Shape;49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94" name="Google Shape;494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43300" y="3667125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95" name="Google Shape;495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43300" y="366712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p39"/>
          <p:cNvSpPr txBox="1"/>
          <p:nvPr/>
        </p:nvSpPr>
        <p:spPr>
          <a:xfrm>
            <a:off x="4638675" y="3674268"/>
            <a:ext cx="40100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https://knowledge.dataiku.com/latest/_images/monitor-feedback-loop.jpg</a:t>
            </a:r>
            <a:endParaRPr/>
          </a:p>
        </p:txBody>
      </p:sp>
      <p:sp>
        <p:nvSpPr>
          <p:cNvPr id="497" name="Google Shape;497;p39"/>
          <p:cNvSpPr txBox="1"/>
          <p:nvPr/>
        </p:nvSpPr>
        <p:spPr>
          <a:xfrm>
            <a:off x="4638675" y="3907631"/>
            <a:ext cx="40100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knowledge.dataiku.com</a:t>
            </a:r>
            <a:endParaRPr/>
          </a:p>
        </p:txBody>
      </p:sp>
      <p:sp>
        <p:nvSpPr>
          <p:cNvPr id="498" name="Google Shape;498;p39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12A46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