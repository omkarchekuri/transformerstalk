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9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27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Relationship Id="rId7" Type="http://schemas.openxmlformats.org/officeDocument/2006/relationships/image" Target="../media/image25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75384" y="2550765"/>
            <a:ext cx="984123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Demystifying Transformers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409700" y="3750915"/>
            <a:ext cx="9372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Beginner's Guide to the Key Terms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190750" y="251876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Consider this sentence: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"The cat chased the rat, but it got away."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190750" y="304442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Who is "it"? The cat? The rat?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190750" y="3570089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Humans know "it" is the rat. Early AI models struggled because they read word-by-word and would forget the "rat."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190750" y="4430910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Transformers were built to read the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entire sentence at once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understand this deep context, just like you do.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56639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09205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6177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47853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The Problem: Context is Everything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Encoder: The "Reader"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2667000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Its only job is to read the entire input sentence (e.g., "the quick brown fox") and build a deep, mathematical understanding of its meaning and context.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388203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Decoder: The "Writer"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548782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Its job is to generate the output sentence word by word. As it writes, it "peeks" at the Encoder's understanding to stay on topic and provide a relevant response.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The Big Picture: Encoder &amp; Decoder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2209800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"Stack" just means piling multiple identical layers on top of each other (e.g., 6, 12, or even 96 layers).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3089671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Analogy: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Like stacking filters.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4849415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Both the Encoder and Decoder are "Stacks" of their own layers.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28675" y="363533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52500" y="363438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Layer 1: Understands basic words.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28675" y="397049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52500" y="3969543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Layer 2: Understands phrases.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28675" y="430565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52500" y="4304704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Layer 6: Understands complex meaning &amp; intent.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Key Term: The 'Stack' (e.g., N=6)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5481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2155031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is the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core mechanism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of a Transformer. It's how the model "looks" at other words in the sentence to understand context.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3370064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When processing the word "jumps" in...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4010025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"The quick brown </a:t>
            </a:r>
            <a:r>
              <a:rPr b="1" i="1" lang="en-US" sz="1650" u="none" cap="none" strike="noStrike">
                <a:solidFill>
                  <a:srgbClr val="4338CA"/>
                </a:solidFill>
                <a:latin typeface="Lato"/>
                <a:ea typeface="Lato"/>
                <a:cs typeface="Lato"/>
                <a:sym typeface="Lato"/>
              </a:rPr>
              <a:t>fox</a:t>
            </a:r>
            <a:r>
              <a:rPr b="1" i="1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1" lang="en-US" sz="1650" u="none" cap="none" strike="noStrike">
                <a:solidFill>
                  <a:srgbClr val="C026D3"/>
                </a:solidFill>
                <a:latin typeface="Lato"/>
                <a:ea typeface="Lato"/>
                <a:cs typeface="Lato"/>
                <a:sym typeface="Lato"/>
              </a:rPr>
              <a:t>jumps</a:t>
            </a:r>
            <a:r>
              <a:rPr b="1" i="1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over the lazy </a:t>
            </a:r>
            <a:r>
              <a:rPr b="1" i="1" lang="en-US" sz="1650" u="none" cap="none" strike="noStrike">
                <a:solidFill>
                  <a:srgbClr val="4338CA"/>
                </a:solidFill>
                <a:latin typeface="Lato"/>
                <a:ea typeface="Lato"/>
                <a:cs typeface="Lato"/>
                <a:sym typeface="Lato"/>
              </a:rPr>
              <a:t>dog</a:t>
            </a:r>
            <a:r>
              <a:rPr b="1" i="1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."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4649985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Self-Attention allows the word "jumps" to pay more attention to "fox" (who is jumping) and "dog" (what is being jumped over).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55006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Key Term: 'Self-Attention'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4632"/>
            <a:ext cx="3429000" cy="3221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94632"/>
            <a:ext cx="3429000" cy="3221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294632"/>
            <a:ext cx="3429000" cy="322123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1260871" y="3304282"/>
            <a:ext cx="20502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What is a "Head"?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66775" y="3951982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"Head" is one "expert" at understanding context. But one expert isn't enough to capture the richness of language.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4845843" y="3304282"/>
            <a:ext cx="25003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Multi-Head Attention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4676775" y="3951982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use "Multi-Head" (e.g., 8 or 12 Heads) to create a "committee of experts" that analyze the text at the same time.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9010888" y="3304282"/>
            <a:ext cx="179022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Parallel Experts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486775" y="3951982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Head 1 might track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who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does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what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(fox -&gt; jumps). Head 2 might track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where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(jumps -&gt; over). Together, they build a rich understanding.</a:t>
            </a:r>
            <a:endParaRPr/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60895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60895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8825" y="260895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Key Term: The 'Head'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00" y="2209800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"Norm" stands for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Layer Normalization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This is a crucial "helper" component.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3089671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Its job is to keep the numbers inside the network from becoming too large or too small during training.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3969543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Analogy: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It's like the "volume control" on a stereo. It keeps all the signals in a stable, predictable range, which makes the model train much faster and more reliably.</a:t>
            </a:r>
            <a:endParaRPr/>
          </a:p>
        </p:txBody>
      </p:sp>
      <p:pic>
        <p:nvPicPr>
          <p:cNvPr descr="image.png" id="169" name="Google Shape;1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Key Term: 'Norm' (Layer Norm)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9237"/>
            <a:ext cx="5286375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19237"/>
            <a:ext cx="5286375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962025" y="1909762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The Code (Conceptual)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724650" y="1909762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The Library Analogy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724650" y="2414587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Query (Q):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Your search query.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(e.g., "I want to know about a fox")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724650" y="3134617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Key (K):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card catalog labels on each book.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(e.g., "fox," "dog," "cat")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724650" y="3854648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Value (V):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actual content inside the book.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(e.g., "The quick brown fox...")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724650" y="4574678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Attention matches your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Query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the best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Keys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retrieve the most relevant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Values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1152525" y="2614612"/>
            <a:ext cx="24693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Q: What am I looking for?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152525" y="2843212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Q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1518493" y="2843212"/>
            <a:ext cx="27443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W_q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1152525" y="3300412"/>
            <a:ext cx="18290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K: What do I have?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1152525" y="3529012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K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1518493" y="3529012"/>
            <a:ext cx="27443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W_k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1152525" y="3986212"/>
            <a:ext cx="237782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V: What will I give you?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1152525" y="4214812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518493" y="4214812"/>
            <a:ext cx="27443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W_v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152525" y="4672012"/>
            <a:ext cx="27436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1. Find Scores (Query x Key)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152525" y="4900612"/>
            <a:ext cx="237782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2. Get Weights (Softmax)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152525" y="5129212"/>
            <a:ext cx="310946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3. Get Context (Weights x Value)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56673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Inside a 'Head': Q, K, V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0796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1. Pre-training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4629150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model learns language (grammar, facts) from your raw PDF text.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3343888" y="2541389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2. SFT (Fine-Tuning)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3407419" y="3027164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teach it to be helpful by showing it specific Q&amp;A examples.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17980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3. RLHF (Alignment)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243339" y="4629150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"steer" the model to give better, safer answers using a Reward Model.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9015728" y="2541389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4. Aligned Model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9079259" y="3027164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result is a helpful assistant that understands your document.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338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338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338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338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Our Demo: From Text to Chatbot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0369"/>
            <a:ext cx="11049000" cy="189726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295275" y="2480369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383291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077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7554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60316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442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/>
          <p:nvPr/>
        </p:nvSpPr>
        <p:spPr>
          <a:xfrm>
            <a:off x="571500" y="30165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71500" y="38013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71500" y="45861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907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1666875" y="238422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https://machinelearningmastery.com/wp-content/uploads/2021/10/transformer_1.png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1666875" y="262994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machinelearningmastery.com</a:t>
            </a:r>
            <a:endParaRPr/>
          </a:p>
        </p:txBody>
      </p:sp>
      <p:pic>
        <p:nvPicPr>
          <p:cNvPr descr="image.png" id="239" name="Google Shape;23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1755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1666875" y="316899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https://i.sstatic.net/7p5lu.png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666875" y="341471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datascience.stackexchange.com</a:t>
            </a:r>
            <a:endParaRPr/>
          </a:p>
        </p:txBody>
      </p:sp>
      <p:pic>
        <p:nvPicPr>
          <p:cNvPr descr="image.png" id="242" name="Google Shape;24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9603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1666875" y="395376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https://miro.medium.com/v2/resize:fit:834/1*c4e4MB8ECCAEApHihYZX0Q.png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666875" y="419948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245" name="Google Shape;24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8442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1666875" y="473853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https://machinelearningmastery.com/wp-content/uploads/2018/11/Box-and-Whisker-Plots-of-Mean-Squared-Error-With-Unscaled-Normalized-and-Standardized-Input-Variables-for-the-Regression-Problem.png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1666875" y="518234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machinelearningmastery.com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