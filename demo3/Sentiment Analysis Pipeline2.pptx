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Lato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20.png"/><Relationship Id="rId10" Type="http://schemas.openxmlformats.org/officeDocument/2006/relationships/image" Target="../media/image41.png"/><Relationship Id="rId9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05626" y="2705100"/>
            <a:ext cx="598074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Sentiment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48025" y="3705225"/>
            <a:ext cx="5695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From Raw Text to Regression with PyTorch &amp; scikit-learn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527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860845" y="2986087"/>
            <a:ext cx="24703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862387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Predict a continuous sentiment score from -1.0 (Negative) to +1.0 (Positive).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71500" y="382905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0796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Preprocess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533900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Clean, tokenize, and lemmatize raw text.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343888" y="24765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Vectorize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407419" y="292417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Apply N-grams &amp; convert tokens to TF-IDF vectors.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17980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Build Model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243339" y="4533900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Create a PyTorch feedforward neural network.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15728" y="24765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Train &amp; Predict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079259" y="292417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Optimize on training data and run inference.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174687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58279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41870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025462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Our End-to-End Pipeline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62025" y="1789509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Text &amp; Labels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2322909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start with a `pandas.DataFrame` containing two columns: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808809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is a regression task, not classification, as we are predicting a continuous value.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04900" y="30087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200150" y="3008709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text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raw, unprocessed user feedback.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04900" y="34087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00150" y="3408759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label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A pre-assigned sentiment score from -1.0 to 1.0.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60784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Step 1: The Raw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60834" y="3395662"/>
            <a:ext cx="265033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Words vs. Numbers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40719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Computers don't understand "love" or "terrible". They only understand numbers.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370909" y="3395662"/>
            <a:ext cx="145018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Ambiguity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76775" y="4071937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"love", "loving", and "loved" three different words or one concept?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340929" y="3395662"/>
            <a:ext cx="11301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Context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86775" y="40719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does a model know that "not good" is negative, but "not bad" is positive?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7003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1: The Preprocessing Problem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962025" y="1789509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2322909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Lemmatization is the process of grouping together the different inflected forms of a word so they can be analyzed as a single item.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3265884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reduces the "vocabulary" and helps the model generalize.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04900" y="36945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200150" y="3694509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"waited" -&gt; "wait"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04900" y="40945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200150" y="4094559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"bugs" -&gt; "bug"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04900" y="44946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200150" y="4494609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"features" -&gt; "feature"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60784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Solution: Lemmatization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2057400" y="3228082"/>
            <a:ext cx="8077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"The service was not bad at all."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876425" y="4182367"/>
            <a:ext cx="843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If the model only sees "not" and "bad" as separate words, it might misinterpret the sentiment.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581150" y="3513832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5568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363200" y="3772792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5568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2: The Context Problem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055846" y="3652837"/>
            <a:ext cx="24603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Unigram (1-gram)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338262" y="4329112"/>
            <a:ext cx="1895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"service", "not", "bad", "all"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920853" y="3652837"/>
            <a:ext cx="23502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Bigram (2-gram)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919662" y="4329112"/>
            <a:ext cx="2352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 not", "not bad", "bad all"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685847" y="3652837"/>
            <a:ext cx="244030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Trigram (3-gram)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805862" y="4329112"/>
            <a:ext cx="2200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 not bad", "not bad all"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Solution: N-grams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65882"/>
            <a:ext cx="5286375" cy="5964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865882"/>
            <a:ext cx="5286375" cy="596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962025" y="125640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62025" y="178980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TF-IDF (Term Frequency-Inverse Document Frequency) converts our tokens and N-grams into a numerical vector.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62025" y="2475607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assigns a "weight" to each word/phrase. Words that are common everywhere (like "the") get a low weight, while words that are unique and important to a document (like "terrible") get a high weight.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27682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3: Vectorization (TF-IDF)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57150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4: The Model (PyTorch)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18669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SentimentNet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254317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a simple Feedforward Neural Network built with PyTorch.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7250" y="326514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52500" y="326514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1000-feature TF-IDF vector.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57250" y="366519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52500" y="366519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Two `nn.Linear` layers (128 and 64 nodes) with `ReLU` activation to find non-linear patterns.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57250" y="432241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52500" y="432241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single node with a `tanh` activation, which squashes the final score perfectly into our -1.0 to 1.0 range.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52611"/>
            <a:ext cx="5286375" cy="6391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652611"/>
            <a:ext cx="5286375" cy="639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962025" y="1043136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How it Learns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1576536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show the model our data 100 times (Epochs).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209675" y="200516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343025" y="2005161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Forward Pass: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makes a prediction.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209675" y="240521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343025" y="2405211"/>
            <a:ext cx="4124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 Loss: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`MSELoss` (Mean Squared Error) measures how "wrong" the prediction was compared to the true label.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209675" y="331961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343025" y="3319611"/>
            <a:ext cx="4124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Backward Pass: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calculates which weights were "responsible" for the error.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209675" y="3976836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343025" y="3976836"/>
            <a:ext cx="4124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Optimizer Step: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`Adam` optimizer slightly adjusts all weights to reduce the error for next time.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-185588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5: Training the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190750" y="27908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'The support agent was fantastic and solved my issue instantly! I'm delighted.'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0.8373 (Positive)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190750" y="3495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'This is broken and infuriating. My account is locked and nobody is helping.'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-0.9221 (Negative)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190750" y="42005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'I have no preference about the color of the application.'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0.0000 (Neutral)</a:t>
            </a:r>
            <a:endParaRPr/>
          </a:p>
        </p:txBody>
      </p:sp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38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43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481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Final Results: Inference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5619750" y="2809875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4155757" y="3143250"/>
            <a:ext cx="38804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Beyond TF-IDF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895600" y="4019550"/>
            <a:ext cx="6400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Our model has no concept of *word order*. Let's look at models that 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240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571500" y="212407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"Memory" Loop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265747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RNN is designed to work with sequences. It processes text one word at a time, and uses a "hidden state" to pass information from one step to the next.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714375" y="36004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809625" y="36004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it works: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output for a word is influenced by all the words that came before it.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714375" y="4257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809625" y="42576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first model to effectively handle sequential data.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714375" y="4657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809625" y="46577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Suffers from the "vanishing gradient" problem. It has a very short memory and can't remember context from many steps ago (e.g., the beginning of a paragraph).</a:t>
            </a:r>
            <a:endParaRPr/>
          </a:p>
        </p:txBody>
      </p:sp>
      <p:pic>
        <p:nvPicPr>
          <p:cNvPr descr="image.png" id="270" name="Google Shape;2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336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Recurrent Neural Network (RNN)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12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2181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"Gated" Solution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27146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LSTMs are an advanced RNN built to solve the memory problem. They introduce a "cell state" (like a long-term memory conveyor belt) and three "gates".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14375" y="3657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809625" y="36576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Forget Gate: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Decides what old information to throw away.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14375" y="4057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809625" y="40576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 Gate: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Decides what new information to add to memory.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714375" y="4457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809625" y="44577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Output Gate: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Decides what part of the memory to use for the current prediction.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714375" y="5114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809625" y="51149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Can learn and remember long-range dependencies.</a:t>
            </a:r>
            <a:endParaRPr/>
          </a:p>
        </p:txBody>
      </p:sp>
      <p:pic>
        <p:nvPicPr>
          <p:cNvPr descr="image.png" id="288" name="Google Shape;2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07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Long Short-Term Memory (LSTM)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12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 txBox="1"/>
          <p:nvPr/>
        </p:nvSpPr>
        <p:spPr>
          <a:xfrm>
            <a:off x="571500" y="2181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Simplified LSTM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571500" y="2714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GRU is a lighter, simpler version of an LSTM. It combines the cell state and hidden state and uses only two gates instead of three.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714375" y="3400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809625" y="34004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Update Gate: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Decides how much of the past memory to keep and how much new information to add (acts like LSTM's Forget + Input gates).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714375" y="43148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809625" y="43148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Reset Gate: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Decides how much of the past memory to *ignore*.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714375" y="47148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809625" y="47148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Often performs just as well as an LSTM but is computationally faster and easier to train.</a:t>
            </a:r>
            <a:endParaRPr/>
          </a:p>
        </p:txBody>
      </p:sp>
      <p:pic>
        <p:nvPicPr>
          <p:cNvPr descr="image.png"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07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Gated Recurrent Unit (GRU)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12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571500" y="2181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"Attention Is All You Need"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571500" y="2714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is the state-of-the-art (SOTA) architecture (e.g., BERT, GPT). It abandons recurrence entirely and processes all words at the same time.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714375" y="3400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809625" y="34004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it works: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Uses a mechanism called "Self-Attention" to look at all other words in the sentence at once, weighing how important each word is to the current word.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714375" y="43148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809625" y="43148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Highly parallelizable (fast training), captures extremely complex, long-range context.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714375" y="49720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809625" y="49720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Requires massive datasets and computation to train.</a:t>
            </a:r>
            <a:endParaRPr/>
          </a:p>
        </p:txBody>
      </p:sp>
      <p:pic>
        <p:nvPicPr>
          <p:cNvPr descr="image.png" id="320" name="Google Shape;32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07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Transformers (SOTA)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0"/>
          <p:cNvSpPr txBox="1"/>
          <p:nvPr/>
        </p:nvSpPr>
        <p:spPr>
          <a:xfrm>
            <a:off x="295275" y="28765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69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41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57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672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38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/>
          <p:nvPr/>
        </p:nvSpPr>
        <p:spPr>
          <a:xfrm>
            <a:off x="571500" y="2771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71500" y="3543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71500" y="4314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71500" y="5086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2" name="Google Shape;3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6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1666875" y="19812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https://static.vecteezy.com/system/resources/previews/041/448/851/non_2x/abstract-wavy-dynamic-blue-green-violet-light-lines-curve-banner-on-black-background-in-concept-technology-neural-network-neurology-science-music-neon-light-free-vector.jpg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1666875" y="24003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45" name="Google Shape;34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24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1666875" y="2931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https://miro.medium.com/1*dznTsiaHCvRc70fxWWEcgw.png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1666875" y="3164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348" name="Google Shape;34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95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1666875" y="3702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https://miro.medium.com/1*Mb_L_slY9rjMr8-IADHvwg.png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1666875" y="3936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351" name="Google Shape;351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467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1666875" y="44743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https://d2l.ai/_images/gru-3.svg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1666875" y="47077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d2l.ai</a:t>
            </a:r>
            <a:endParaRPr/>
          </a:p>
        </p:txBody>
      </p:sp>
      <p:pic>
        <p:nvPicPr>
          <p:cNvPr descr="image.png" id="354" name="Google Shape;354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5238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/>
        </p:nvSpPr>
        <p:spPr>
          <a:xfrm>
            <a:off x="1666875" y="52458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https://miro.medium.com/0*376uJu_fc_uR8H3X.png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1666875" y="54792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