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Lato"/>
      <p:regular r:id="rId20"/>
      <p:bold r:id="rId21"/>
      <p:italic r:id="rId22"/>
      <p:boldItalic r:id="rId23"/>
    </p:embeddedFont>
    <p:embeddedFont>
      <p:font typeface="Urbanis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Urbanist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italic.fntdata"/><Relationship Id="rId25" Type="http://schemas.openxmlformats.org/officeDocument/2006/relationships/font" Target="fonts/Urbanist-bold.fntdata"/><Relationship Id="rId27" Type="http://schemas.openxmlformats.org/officeDocument/2006/relationships/font" Target="fonts/Urbanis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105626" y="2705100"/>
            <a:ext cx="5980747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Sentiment Analysis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248025" y="3705225"/>
            <a:ext cx="56959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0AEC0"/>
                </a:solidFill>
                <a:latin typeface="Lato"/>
                <a:ea typeface="Lato"/>
                <a:cs typeface="Lato"/>
                <a:sym typeface="Lato"/>
              </a:rPr>
              <a:t>From Raw Text to Regression with PyTorch &amp; scikit-learn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619750" y="2652712"/>
            <a:ext cx="95250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4860845" y="2986087"/>
            <a:ext cx="247030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The Goal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762250" y="3862387"/>
            <a:ext cx="6667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0AEC0"/>
                </a:solidFill>
                <a:latin typeface="Lato"/>
                <a:ea typeface="Lato"/>
                <a:cs typeface="Lato"/>
                <a:sym typeface="Lato"/>
              </a:rPr>
              <a:t>Predict a continuous sentiment score from -1.0 (Negative) to +1.0 (Positive).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/>
          <p:nvPr/>
        </p:nvSpPr>
        <p:spPr>
          <a:xfrm>
            <a:off x="571500" y="3829050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4A55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507968" y="4086225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Preprocess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71500" y="4533900"/>
            <a:ext cx="2541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Clean, tokenize, and lemmatize raw text.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3343888" y="2476500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Vectorize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3407419" y="2924175"/>
            <a:ext cx="2541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Apply N-grams &amp; convert tokens to TF-IDF vectors.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179808" y="4086225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Build Model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243339" y="4533900"/>
            <a:ext cx="2541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Create a PyTorch feedforward neural network.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015728" y="2476500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Train &amp; Predict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079259" y="2924175"/>
            <a:ext cx="2541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Optimize on training data and run inference.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1746870" y="37528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A1A1A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4582790" y="37528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A1A1A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7418709" y="37528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A1A1A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0254629" y="37528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A1A1A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Our End-to-End Pipeline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98984"/>
            <a:ext cx="5286375" cy="48982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398984"/>
            <a:ext cx="5286375" cy="489823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962025" y="1789509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Text &amp; Labels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962025" y="2322909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We start with a `pandas.DataFrame` containing two columns: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62025" y="3818334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This is a regression task, not classification, as we are predicting a continuous value.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247775" y="3008709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343025" y="3008709"/>
            <a:ext cx="41243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text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The raw, unprocessed user feedback.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1247775" y="3408759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343025" y="3408759"/>
            <a:ext cx="41243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label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A pre-assigned sentiment score from -1.0 to 1.0.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560784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Step 1: The Raw Data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86012"/>
            <a:ext cx="342900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386012"/>
            <a:ext cx="342900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386012"/>
            <a:ext cx="3429000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960834" y="3395662"/>
            <a:ext cx="265033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Words vs. Numbers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66775" y="4071937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Computers don't understand "love" or "terrible". They only understand numbers.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370909" y="3395662"/>
            <a:ext cx="145018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Ambiguity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4676775" y="4071937"/>
            <a:ext cx="2838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Are "love", "loving", and "loved" three different words or one concept?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9340929" y="3395662"/>
            <a:ext cx="11301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Context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486775" y="4071937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How does a model know that "not good" is negative, but "not bad" is positive?</a:t>
            </a:r>
            <a:endParaRPr/>
          </a:p>
        </p:txBody>
      </p:sp>
      <p:pic>
        <p:nvPicPr>
          <p:cNvPr descr="image.png" id="143" name="Google Shape;14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00250" y="270033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38825" y="270033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0" y="270033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Concept 1: The Preprocessing Problem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98984"/>
            <a:ext cx="5286375" cy="48982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398984"/>
            <a:ext cx="5286375" cy="489823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962025" y="1789509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What is it?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962025" y="2322909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Lemmatization is the process of grouping together the different inflected forms of a word so they can be analyzed as a single item.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962025" y="3265884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It reduces the "vocabulary" and helps the model generalize.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1247775" y="3694509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1343025" y="3694509"/>
            <a:ext cx="41243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"waited" -&gt; "wait"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1247775" y="3951684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1343025" y="3951684"/>
            <a:ext cx="41243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"bugs" -&gt; "bug"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1247775" y="4208859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1343025" y="4208859"/>
            <a:ext cx="41243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"features" -&gt; "feature"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560784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Solution: Lemmatization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2057400" y="3228082"/>
            <a:ext cx="80772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"The service was not bad at all."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1876425" y="4182367"/>
            <a:ext cx="8439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0AEC0"/>
                </a:solidFill>
                <a:latin typeface="Lato"/>
                <a:ea typeface="Lato"/>
                <a:cs typeface="Lato"/>
                <a:sym typeface="Lato"/>
              </a:rPr>
              <a:t>If the model only sees "not" and "bad" as separate words, it might misinterpret the sentiment.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1581150" y="3513832"/>
            <a:ext cx="2476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4A5568"/>
                </a:solidFill>
                <a:latin typeface="Urbanist"/>
                <a:ea typeface="Urbanist"/>
                <a:cs typeface="Urbanist"/>
                <a:sym typeface="Urbanist"/>
              </a:rPr>
              <a:t>"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10363200" y="3772792"/>
            <a:ext cx="2476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4A5568"/>
                </a:solidFill>
                <a:latin typeface="Urbanist"/>
                <a:ea typeface="Urbanist"/>
                <a:cs typeface="Urbanist"/>
                <a:sym typeface="Urbanist"/>
              </a:rPr>
              <a:t>"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Concept 2: The Context Problem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43187"/>
            <a:ext cx="34290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643187"/>
            <a:ext cx="34290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643187"/>
            <a:ext cx="3429000" cy="240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1055846" y="3652837"/>
            <a:ext cx="246030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Unigram (1-gram)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1338262" y="4329112"/>
            <a:ext cx="1895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"service", "not", "bad", "all"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4920853" y="3652837"/>
            <a:ext cx="23502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Bigram (2-gram)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4919662" y="4329112"/>
            <a:ext cx="2352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"service not", "not bad", "bad all"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8685847" y="3652837"/>
            <a:ext cx="244030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Trigram (3-gram)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8805862" y="4329112"/>
            <a:ext cx="22002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"service not bad", "not bad all"</a:t>
            </a:r>
            <a:endParaRPr/>
          </a:p>
        </p:txBody>
      </p:sp>
      <p:pic>
        <p:nvPicPr>
          <p:cNvPr descr="image.png" id="188" name="Google Shape;18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4550" y="295751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4550" y="295751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34550" y="2957512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Solution: N-grams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865882"/>
            <a:ext cx="5286375" cy="59645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865882"/>
            <a:ext cx="5286375" cy="596458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962025" y="1256407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What is it?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962025" y="1789807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TF-IDF (Term Frequency-Inverse Document Frequency) converts our tokens and N-grams into a numerical vector.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962025" y="2475607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It assigns a "weight" to each word/phrase. Words that are common everywhere (like "the") get a low weight, while words that are unique and important to a document (like "terrible") get a high weight.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571500" y="27682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Concept 3: Vectorization (TF-IDF)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571500" y="571500"/>
            <a:ext cx="555069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Concept 4: The Model (PyTorch)</a:t>
            </a:r>
            <a:endParaRPr/>
          </a:p>
        </p:txBody>
      </p:sp>
      <p:pic>
        <p:nvPicPr>
          <p:cNvPr descr="image.png" id="209" name="Google Shape;20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571500" y="1866900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SentimentNet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571500" y="2543175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We use a simple Feedforward Neural Network built with PyTorch.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857250" y="326514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952500" y="3265140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Input: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1000-feature TF-IDF vector.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857250" y="366519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952500" y="3665190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Hidden Layers: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Two `nn.Linear` layers (128 and 64 nodes) with `ReLU` activation to find non-linear patterns.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857250" y="432241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952500" y="4322415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Output: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 single node with a `tanh` activation, which squashes the final score perfectly into our -1.0 to 1.0 range.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52611"/>
            <a:ext cx="5286375" cy="63911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652611"/>
            <a:ext cx="5286375" cy="6391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962025" y="1043136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How it Learns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962025" y="1576536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We show the model our data 100 times (Epochs).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1209675" y="2005161"/>
            <a:ext cx="133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1343025" y="2005161"/>
            <a:ext cx="41243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Forward Pass: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model makes a prediction.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1209675" y="2405211"/>
            <a:ext cx="133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1343025" y="2405211"/>
            <a:ext cx="4124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Calculate Loss: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`MSELoss` (Mean Squared Error) measures how "wrong" the prediction was compared to the true label.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1209675" y="3319611"/>
            <a:ext cx="133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1343025" y="3319611"/>
            <a:ext cx="4124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Backward Pass: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model calculates which weights were "responsible" for the error.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1209675" y="3976836"/>
            <a:ext cx="133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1343025" y="3976836"/>
            <a:ext cx="4124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Optimizer Step: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`Adam` optimizer slightly adjusts all weights to reduce the error for next time.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571500" y="-185588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Concept 5: Training the Model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 txBox="1"/>
          <p:nvPr/>
        </p:nvSpPr>
        <p:spPr>
          <a:xfrm>
            <a:off x="2190750" y="279082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0F0F0"/>
                </a:solidFill>
                <a:latin typeface="Lato"/>
                <a:ea typeface="Lato"/>
                <a:cs typeface="Lato"/>
                <a:sym typeface="Lato"/>
              </a:rPr>
              <a:t>Message: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'The support agent was fantastic and solved my issue instantly! I'm delighted.'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F0F0F0"/>
                </a:solidFill>
                <a:latin typeface="Lato"/>
                <a:ea typeface="Lato"/>
                <a:cs typeface="Lato"/>
                <a:sym typeface="Lato"/>
              </a:rPr>
              <a:t>Predicted Sentiment: 0.8373 (Positive)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2190750" y="349567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0F0F0"/>
                </a:solidFill>
                <a:latin typeface="Lato"/>
                <a:ea typeface="Lato"/>
                <a:cs typeface="Lato"/>
                <a:sym typeface="Lato"/>
              </a:rPr>
              <a:t>Message: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'This is broken and infuriating. My account is locked and nobody is helping.'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F0F0F0"/>
                </a:solidFill>
                <a:latin typeface="Lato"/>
                <a:ea typeface="Lato"/>
                <a:cs typeface="Lato"/>
                <a:sym typeface="Lato"/>
              </a:rPr>
              <a:t>Predicted Sentiment: -0.9221 (Negative)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2190750" y="420052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0F0F0"/>
                </a:solidFill>
                <a:latin typeface="Lato"/>
                <a:ea typeface="Lato"/>
                <a:cs typeface="Lato"/>
                <a:sym typeface="Lato"/>
              </a:rPr>
              <a:t>Message: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'I have no preference about the color of the application.'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F0F0F0"/>
                </a:solidFill>
                <a:latin typeface="Lato"/>
                <a:ea typeface="Lato"/>
                <a:cs typeface="Lato"/>
                <a:sym typeface="Lato"/>
              </a:rPr>
              <a:t>Predicted Sentiment: 0.0000 (Neutral)</a:t>
            </a:r>
            <a:endParaRPr/>
          </a:p>
        </p:txBody>
      </p:sp>
      <p:pic>
        <p:nvPicPr>
          <p:cNvPr descr="image.png" id="244" name="Google Shape;24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8384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5433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2481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Final Results: Inference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2" name="Google Shape;25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 txBox="1"/>
          <p:nvPr/>
        </p:nvSpPr>
        <p:spPr>
          <a:xfrm>
            <a:off x="295275" y="287655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0997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099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 txBox="1"/>
          <p:nvPr/>
        </p:nvSpPr>
        <p:spPr>
          <a:xfrm>
            <a:off x="1666875" y="3524250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https://static.vecteezy.com/system/resources/previews/041/448/851/non_2x/abstract-wavy-dynamic-blue-green-violet-light-lines-curve-banner-on-black-background-in-concept-technology-neural-network-neurology-science-music-neon-light-free-vector.jpg</a:t>
            </a:r>
            <a:endParaRPr/>
          </a:p>
        </p:txBody>
      </p:sp>
      <p:sp>
        <p:nvSpPr>
          <p:cNvPr id="262" name="Google Shape;262;p26"/>
          <p:cNvSpPr txBox="1"/>
          <p:nvPr/>
        </p:nvSpPr>
        <p:spPr>
          <a:xfrm>
            <a:off x="1666875" y="394335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sp>
        <p:nvSpPr>
          <p:cNvPr id="263" name="Google Shape;263;p26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