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Poppins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slide" Target="slides/slide20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7.png"/><Relationship Id="rId8" Type="http://schemas.openxmlformats.org/officeDocument/2006/relationships/image" Target="../media/image4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53.png"/><Relationship Id="rId6" Type="http://schemas.openxmlformats.org/officeDocument/2006/relationships/image" Target="../media/image20.png"/><Relationship Id="rId7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52.png"/><Relationship Id="rId6" Type="http://schemas.openxmlformats.org/officeDocument/2006/relationships/image" Target="../media/image26.png"/><Relationship Id="rId7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9" Type="http://schemas.openxmlformats.org/officeDocument/2006/relationships/image" Target="../media/image42.png"/><Relationship Id="rId5" Type="http://schemas.openxmlformats.org/officeDocument/2006/relationships/image" Target="../media/image31.png"/><Relationship Id="rId6" Type="http://schemas.openxmlformats.org/officeDocument/2006/relationships/image" Target="../media/image54.png"/><Relationship Id="rId7" Type="http://schemas.openxmlformats.org/officeDocument/2006/relationships/image" Target="../media/image48.png"/><Relationship Id="rId8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7.png"/><Relationship Id="rId8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10476" y="2562225"/>
            <a:ext cx="8371046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From Words to Wisdom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09787" y="3762375"/>
            <a:ext cx="79724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NLP Demo: From Neural Networks to Transformers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000250"/>
            <a:ext cx="555069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quest to teach computers to understand, process, and generate human language.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3909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It's the science behind...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95325" y="3867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386715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Chatbots and Virtual Assistants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95325" y="42957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42957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Sentiment Analysis (Reading Reviews)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95325" y="47244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472440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Machine Translation (Google Translate)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5325" y="51530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515302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Summarization and Q&amp;A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Natural Language Processing?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5025"/>
            <a:ext cx="34290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05025"/>
            <a:ext cx="34290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05025"/>
            <a:ext cx="34290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780936" y="3114675"/>
            <a:ext cx="101012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Corpus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84810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entire collection of text data we use for training (e.g., our 'Alice in Wonderland' text).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225891" y="3114675"/>
            <a:ext cx="174021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Tokenization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76775" y="3848100"/>
            <a:ext cx="28384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Breaking text into pieces (tokens). This is the first step for our demo's SimpleTokenizer.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025890" y="3114675"/>
            <a:ext cx="176022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Embeddings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86775" y="3848100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vector of numbers that represents the 'meaning' of a token. This is what the model learns.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4193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4193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4193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Absolute Basics: Key Terms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"brain" inspired by biology, designed to learn patterns from data.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9908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It's made of layers of simple "neurons":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95325" y="34671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9625" y="346710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Takes in the data (e.g., our token embeddings).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95325" y="3895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389572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Hidden Layers: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"thinking" part where patterns are found.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43243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43243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Output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Produces the final answer (e.g., the next predicted word).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a Neural Network?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single "neuron" is just a simple calculator.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9908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performs 4 basic steps: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00100" y="346710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46710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Takes in multiple inputs.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00100" y="389572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38957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Multiplies each input by a "weight" (its importance).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00100" y="432435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43243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Sums them all up.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00100" y="475297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0" y="47529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Passes the total through an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Activation Function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Smallest Piece: A "Neuron"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activation function decides if a neuron "fires" and how strongly.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95325" y="29432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09625" y="29432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It's a "non-linear" function that acts as a gate or a dimmer switch.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95325" y="36576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09625" y="36576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Without it, the entire network would just be one giant, simple equation and couldn't learn complex patterns.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95325" y="4371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09625" y="43719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ReLU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(Rectified Linear Unit) is the most common: "If the signal is negative, output 0. Otherwise, output the signal."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"Dimmer Switch": Activation Functions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714500" y="2424112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Make a Guess: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model processes an input (e.g., 'alice followed...') and guesses the next word.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714500" y="292893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Measure Error (Loss):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Loss Function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(like nn.CrossEntropyLoss) calculates how "wrong" the guess was.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714500" y="374808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Find Blame (Backpropagation):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error is sent *backward* through the network to find which weights contributed most to the mistake.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714500" y="456723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 Update Weights (Optimization):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Optimizer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(like optim.Adam) slightly adjusts all the weights to make a better guess next time.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47173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976562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7957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6148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How Do Neural Networks Learn?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08869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1908869"/>
            <a:ext cx="555069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Basic NNs have no memory. RNNs (Recurrent) and LSTMs were the solution.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95325" y="3251894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09625" y="3251894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They process sequences step-by-step, passing a "memory" (or hidden state) from one word to the next.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95325" y="3966269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09625" y="3966269"/>
            <a:ext cx="5048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what our ToyLLM uses!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95325" y="4404419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09625" y="4404419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They are slow (can't process words in parallel) and can "forget" context from the distant past.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18394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Old Problem: Memory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2017 paper "Attention Is All You Need" changed everything.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95325" y="29432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09625" y="29432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introduced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architecture, which has no RNNs or LSTMs.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95325" y="36576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09625" y="36576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can process all words in a sentence *at the same time* (parallelizable).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95325" y="4371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09625" y="43719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uses a new mechanism called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Self-Attention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find context.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Better Brain: The Transformer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076450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076450"/>
            <a:ext cx="3429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1565909" y="3086100"/>
            <a:ext cx="14401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What is it?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866775" y="3819525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mechanism that lets the model weigh the importance of *every other word* in the sentence when processing a single word.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505926" y="3086100"/>
            <a:ext cx="118014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4676775" y="3819525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When processing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'it'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 "The rabbit ate the carrot because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was hungry," attention helps the model know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'it'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refers to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'rabbit'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not the 'carrot'.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420939" y="3086100"/>
            <a:ext cx="97012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Benefit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486775" y="3819525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provides deep, flexible contextual understanding and is much faster to train than RNNs.</a:t>
            </a:r>
            <a:endParaRPr/>
          </a:p>
        </p:txBody>
      </p:sp>
      <p:pic>
        <p:nvPicPr>
          <p:cNvPr descr="image.png" id="230" name="Google Shape;2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3907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3907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5975" y="23907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Secret Sauce: Self-Attention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Most transformers are "Encoder-Decoder" models.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95325" y="29432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809625" y="29432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Encoder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"reads" and understands the input (e.g., an English sentence).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95325" y="36576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809625" y="36576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Decoder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"writes" and generates the output (e.g., the French translation).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95325" y="4371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09625" y="43719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GPT-style models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(like ChatGPT) are "Decoder-only" models, which makes them excellent at generation.</a:t>
            </a:r>
            <a:endParaRPr/>
          </a:p>
        </p:txBody>
      </p:sp>
      <p:pic>
        <p:nvPicPr>
          <p:cNvPr descr="image.png" id="247" name="Google Shape;2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High-Level Transformer Architecture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/>
          <p:nvPr/>
        </p:nvSpPr>
        <p:spPr>
          <a:xfrm>
            <a:off x="5619750" y="251936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1460420" y="2852737"/>
            <a:ext cx="927115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Our Demo: A 3-Phase Journey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3868935" y="4090987"/>
            <a:ext cx="44539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How we build a modern LLM (like our ToyLLM)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571500" y="20002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Goal: Learn Language &amp; Facts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695325" y="2543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809625" y="25431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Next-Word Prediction.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695325" y="29718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809625" y="29718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Massive text corpus (e.g., 'Alice in Wonderland' or the whole internet).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95325" y="3686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809625" y="36861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"completer" model that knows facts but can't answer questions.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Phase 1: Foundational Pre-training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571500" y="20002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Goal: Learn to Answer Questions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695325" y="2543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809625" y="25431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Training on (Prompt, Ideal Answer) pairs.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695325" y="29718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809625" y="29718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curated dataset of Q&amp;A, instructions, and conversations.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695325" y="3686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809625" y="36861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"by-the-book" expert that answers questions it was trained on.</a:t>
            </a:r>
            <a:endParaRPr/>
          </a:p>
        </p:txBody>
      </p:sp>
      <p:pic>
        <p:nvPicPr>
          <p:cNvPr descr="image.png" id="285" name="Google Shape;28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Phase 2: Supervised Fine-Tuning (SFT)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/>
          <p:nvPr/>
        </p:nvSpPr>
        <p:spPr>
          <a:xfrm>
            <a:off x="571500" y="20002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Goal: Learn "Preferences"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695325" y="2543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809625" y="25431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"Reward Model" (judge) scores the model's answers. The model is trained to get a high score.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695325" y="32575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809625" y="32575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Human preferences (e.g., "Answer A is better than Answer B").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695325" y="39719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809625" y="39719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 "aligned" assistant that gives helpful answers even to new questions.</a:t>
            </a:r>
            <a:endParaRPr/>
          </a:p>
        </p:txBody>
      </p:sp>
      <p:pic>
        <p:nvPicPr>
          <p:cNvPr descr="image.png" id="300" name="Google Shape;30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Phase 3: Reinforcement Learning (RLHF)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8733"/>
            <a:ext cx="5286375" cy="4733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38733"/>
            <a:ext cx="5286375" cy="4733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8"/>
          <p:cNvSpPr txBox="1"/>
          <p:nvPr/>
        </p:nvSpPr>
        <p:spPr>
          <a:xfrm>
            <a:off x="749379" y="1834008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The Model (ToyLLM)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866775" y="2338833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model uses the basic building blocks: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6512004" y="1834008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The Training Loop (simulate_pretraining)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6629400" y="2338833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the "learning" process from Slide 7: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Connecting to Our Demo Code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 txBox="1"/>
          <p:nvPr/>
        </p:nvSpPr>
        <p:spPr>
          <a:xfrm>
            <a:off x="1714500" y="2581275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NLP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about turning words into numbers (Tokens, Embeddings) so a computer can learn from them.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1714500" y="3086100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Neural Networks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learn by making guesses, measuring error (Loss), and updating their internal "weights" (Backpropagation).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1714500" y="3905250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Transformers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Self-Attention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understand deep context, outperforming older models like LSTMs.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1714500" y="4724400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Modern LLMs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are built in phases: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Pre-training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(knowledge) -&gt;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SFT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(skills) -&gt;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RLHF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(alignment).</a:t>
            </a:r>
            <a:endParaRPr/>
          </a:p>
        </p:txBody>
      </p:sp>
      <p:pic>
        <p:nvPicPr>
          <p:cNvPr descr="image.png" id="323" name="Google Shape;32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628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1337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952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7720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 txBox="1"/>
          <p:nvPr/>
        </p:nvSpPr>
        <p:spPr>
          <a:xfrm>
            <a:off x="295275" y="2762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17383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8875" y="5595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1"/>
          <p:cNvSpPr/>
          <p:nvPr/>
        </p:nvSpPr>
        <p:spPr>
          <a:xfrm>
            <a:off x="2428875" y="2357437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2428875" y="3128962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2428875" y="3900487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2428875" y="4672012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2428875" y="5443537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0" name="Google Shape;35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8875" y="1738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1"/>
          <p:cNvSpPr txBox="1"/>
          <p:nvPr/>
        </p:nvSpPr>
        <p:spPr>
          <a:xfrm>
            <a:off x="3524250" y="1745456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https://smythos.com/wp-content/uploads/2024/11/human-brain-symbolic-ai-842x632.jpeg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3524250" y="1978818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smythos.com</a:t>
            </a:r>
            <a:endParaRPr/>
          </a:p>
        </p:txBody>
      </p:sp>
      <p:pic>
        <p:nvPicPr>
          <p:cNvPr descr="image.png" id="353" name="Google Shape;35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8875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 txBox="1"/>
          <p:nvPr/>
        </p:nvSpPr>
        <p:spPr>
          <a:xfrm>
            <a:off x="3524250" y="2516981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https://media.geeksforgeeks.org/wp-content/uploads/20240719175629/Input-Layer-in-an-ANN.webp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3524250" y="2750343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descr="image.png" id="356" name="Google Shape;35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8875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1"/>
          <p:cNvSpPr txBox="1"/>
          <p:nvPr/>
        </p:nvSpPr>
        <p:spPr>
          <a:xfrm>
            <a:off x="3524250" y="3288506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https://towardsdatascience.com/wp-content/uploads/2021/12/1hkYlTODpjJgo32DoCOWN5w.png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3524250" y="3521868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towardsdatascience.com</a:t>
            </a:r>
            <a:endParaRPr/>
          </a:p>
        </p:txBody>
      </p:sp>
      <p:pic>
        <p:nvPicPr>
          <p:cNvPr descr="image.png" id="359" name="Google Shape;35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8875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1"/>
          <p:cNvSpPr txBox="1"/>
          <p:nvPr/>
        </p:nvSpPr>
        <p:spPr>
          <a:xfrm>
            <a:off x="3524250" y="4060031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https://api.wandb.ai/files/ayush-thakur/images/projects/103390/26bec8a6.png</a:t>
            </a: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3524250" y="4293393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wandb.ai</a:t>
            </a:r>
            <a:endParaRPr/>
          </a:p>
        </p:txBody>
      </p:sp>
      <p:pic>
        <p:nvPicPr>
          <p:cNvPr descr="image.png" id="362" name="Google Shape;362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28875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3524250" y="4831556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https://media.geeksforgeeks.org/wp-content/uploads/20250523171309383561/recurrent_neural_network.webp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3524250" y="5064918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descr="image.png" id="365" name="Google Shape;365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28875" y="5595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1"/>
          <p:cNvSpPr txBox="1"/>
          <p:nvPr/>
        </p:nvSpPr>
        <p:spPr>
          <a:xfrm>
            <a:off x="3524250" y="5603081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https://miro.medium.com/0*mxrHZpguNK-hfDrd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3524250" y="5836443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sp>
        <p:nvSpPr>
          <p:cNvPr id="368" name="Google Shape;368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3" name="Google Shape;37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712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712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712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4712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3414712" y="3128962"/>
            <a:ext cx="53625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3414712" y="3900487"/>
            <a:ext cx="53625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3414712" y="4672012"/>
            <a:ext cx="53625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1" name="Google Shape;38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4712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4510087" y="2516981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https://www.practicalai.io/wp-content/uploads/2023/02/encoder-decoder.png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4510087" y="2750343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www.practicalai.io</a:t>
            </a:r>
            <a:endParaRPr/>
          </a:p>
        </p:txBody>
      </p:sp>
      <p:pic>
        <p:nvPicPr>
          <p:cNvPr descr="image.png" id="384" name="Google Shape;38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4712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2"/>
          <p:cNvSpPr txBox="1"/>
          <p:nvPr/>
        </p:nvSpPr>
        <p:spPr>
          <a:xfrm>
            <a:off x="4510087" y="3288506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https://miro.medium.com/1*pRuWa3mek-ubreFtja6YPQ.png</a:t>
            </a:r>
            <a:endParaRPr/>
          </a:p>
        </p:txBody>
      </p:sp>
      <p:sp>
        <p:nvSpPr>
          <p:cNvPr id="386" name="Google Shape;386;p32"/>
          <p:cNvSpPr txBox="1"/>
          <p:nvPr/>
        </p:nvSpPr>
        <p:spPr>
          <a:xfrm>
            <a:off x="4510087" y="3521868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python.plainenglish.io</a:t>
            </a:r>
            <a:endParaRPr/>
          </a:p>
        </p:txBody>
      </p:sp>
      <p:pic>
        <p:nvPicPr>
          <p:cNvPr descr="image.png" id="387" name="Google Shape;387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14712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2"/>
          <p:cNvSpPr txBox="1"/>
          <p:nvPr/>
        </p:nvSpPr>
        <p:spPr>
          <a:xfrm>
            <a:off x="4510087" y="4060031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https://miro.medium.com/1*jMVDYyKUWfzpdQ1Kx7FM_g.png</a:t>
            </a:r>
            <a:endParaRPr/>
          </a:p>
        </p:txBody>
      </p:sp>
      <p:sp>
        <p:nvSpPr>
          <p:cNvPr id="389" name="Google Shape;389;p32"/>
          <p:cNvSpPr txBox="1"/>
          <p:nvPr/>
        </p:nvSpPr>
        <p:spPr>
          <a:xfrm>
            <a:off x="4510087" y="4293393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390" name="Google Shape;390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14712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2"/>
          <p:cNvSpPr txBox="1"/>
          <p:nvPr/>
        </p:nvSpPr>
        <p:spPr>
          <a:xfrm>
            <a:off x="4510087" y="4831556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https://miro.medium.com/1*PK8BewZA0daezu-rZWm_Wg.png</a:t>
            </a:r>
            <a:endParaRPr/>
          </a:p>
        </p:txBody>
      </p:sp>
      <p:sp>
        <p:nvSpPr>
          <p:cNvPr id="392" name="Google Shape;392;p32"/>
          <p:cNvSpPr txBox="1"/>
          <p:nvPr/>
        </p:nvSpPr>
        <p:spPr>
          <a:xfrm>
            <a:off x="4510087" y="5064918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pub.towardsai.net</a:t>
            </a:r>
            <a:endParaRPr/>
          </a:p>
        </p:txBody>
      </p:sp>
      <p:sp>
        <p:nvSpPr>
          <p:cNvPr id="393" name="Google Shape;393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